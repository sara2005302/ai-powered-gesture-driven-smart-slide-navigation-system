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71" r:id="rId14"/>
    <p:sldId id="272" r:id="rId15"/>
    <p:sldId id="273" r:id="rId16"/>
    <p:sldId id="276" r:id="rId17"/>
    <p:sldId id="274" r:id="rId18"/>
    <p:sldId id="275" r:id="rId19"/>
    <p:sldId id="278" r:id="rId20"/>
    <p:sldId id="279" r:id="rId21"/>
    <p:sldId id="280" r:id="rId22"/>
    <p:sldId id="281" r:id="rId23"/>
    <p:sldId id="283" r:id="rId24"/>
    <p:sldId id="285" r:id="rId25"/>
    <p:sldId id="287" r:id="rId26"/>
    <p:sldId id="289" r:id="rId27"/>
    <p:sldId id="290" r:id="rId28"/>
    <p:sldId id="291" r:id="rId29"/>
    <p:sldId id="292" r:id="rId30"/>
  </p:sldIdLst>
  <p:sldSz cx="9753600" cy="7315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7A462-6246-42F4-8CBC-F149CEE1F7AC}">
  <a:tblStyle styleId="{7D47A462-6246-42F4-8CBC-F149CEE1F7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5EF8E7-0D92-4CC9-92A2-EC9867616D6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12ada421f_0_7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212ada421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12ada421f_0_9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212ada421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12ada421f_0_10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212ada421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  <p:sp>
        <p:nvSpPr>
          <p:cNvPr id="202" name="Google Shape;202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12ada421f_0_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212ada421f_0_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4" name="Google Shape;214;g3212ada421f_0_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212ada421f_0_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  <p:sp>
        <p:nvSpPr>
          <p:cNvPr id="216" name="Google Shape;216;g3212ada421f_0_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212ada421f_0_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sp>
        <p:nvSpPr>
          <p:cNvPr id="243" name="Google Shape;243;p1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258" name="Google Shape;258;p1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7" name="Google Shape;317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  <p:sp>
        <p:nvSpPr>
          <p:cNvPr id="319" name="Google Shape;319;p1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1" name="Google Shape;301;p1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6" name="Google Shape;36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212ada421f_0_5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3212ada421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/>
        </p:nvSpPr>
        <p:spPr>
          <a:xfrm>
            <a:off x="416610" y="1880833"/>
            <a:ext cx="8731500" cy="278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u="sng" dirty="0" smtClean="0">
                <a:latin typeface="Times New Roman" pitchFamily="18"/>
                <a:cs typeface="Times New Roman" pitchFamily="18"/>
              </a:rPr>
              <a:t>DEPARTMENT OF INFORMATION SCIENCE AND ENGINEERING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1" dirty="0" smtClean="0">
              <a:latin typeface="Times New Roman" pitchFamily="18"/>
              <a:cs typeface="Times New Roman" pitchFamily="18"/>
            </a:endParaRP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Mini_Project_Final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Presentation</a:t>
            </a:r>
          </a:p>
          <a:p>
            <a:pPr lvl="0" algn="ctr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Title: </a:t>
            </a:r>
            <a:r>
              <a:rPr lang="en-IN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AI-Powered Gesture –Driven Smart Slide Navigation System</a:t>
            </a:r>
          </a:p>
          <a:p>
            <a:pPr marL="0" marR="0" lvl="0" indent="0" algn="ctr" rtl="0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775" b="0" i="0" u="none" strike="noStrike" cap="none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081520" y="6825827"/>
            <a:ext cx="2092960" cy="2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7" name="Picture 6" descr="C:\Users\GSSS\Downloads\GSSS IETW Letter Head JPEG (updated).jpg"/>
          <p:cNvPicPr/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3849"/>
            <a:ext cx="9753600" cy="170740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486384" y="4912468"/>
            <a:ext cx="354086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 smtClean="0">
                <a:latin typeface="Times New Roman" pitchFamily="18"/>
                <a:cs typeface="Times New Roman" pitchFamily="18"/>
              </a:rPr>
              <a:t>Presented by:</a:t>
            </a:r>
          </a:p>
          <a:p>
            <a:pPr lvl="0"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dirty="0" smtClean="0">
                <a:latin typeface="Times New Roman" pitchFamily="18"/>
                <a:cs typeface="Times New Roman" pitchFamily="18"/>
              </a:rPr>
              <a:t>1. Sana </a:t>
            </a:r>
            <a:r>
              <a:rPr lang="en-US" sz="1800" dirty="0" err="1" smtClean="0">
                <a:latin typeface="Times New Roman" pitchFamily="18"/>
                <a:cs typeface="Times New Roman" pitchFamily="18"/>
              </a:rPr>
              <a:t>Anjum</a:t>
            </a:r>
            <a:r>
              <a:rPr lang="en-US" sz="1800" dirty="0" smtClean="0">
                <a:latin typeface="Times New Roman" pitchFamily="18"/>
                <a:cs typeface="Times New Roman" pitchFamily="18"/>
              </a:rPr>
              <a:t> (4GW23IS040)</a:t>
            </a:r>
          </a:p>
          <a:p>
            <a:pPr lvl="0" algn="just"/>
            <a:r>
              <a:rPr lang="en-US" sz="1800" dirty="0" smtClean="0">
                <a:latin typeface="Times New Roman" pitchFamily="18"/>
                <a:cs typeface="Times New Roman" pitchFamily="18"/>
              </a:rPr>
              <a:t>2. </a:t>
            </a:r>
            <a:r>
              <a:rPr lang="en-US" sz="1800" dirty="0" err="1" smtClean="0">
                <a:latin typeface="Times New Roman" pitchFamily="18"/>
                <a:cs typeface="Times New Roman" pitchFamily="18"/>
              </a:rPr>
              <a:t>Saranya</a:t>
            </a:r>
            <a:r>
              <a:rPr lang="en-US" sz="1800" dirty="0" smtClean="0">
                <a:latin typeface="Times New Roman" pitchFamily="18"/>
                <a:cs typeface="Times New Roman" pitchFamily="18"/>
              </a:rPr>
              <a:t> G (4GW23IS044)</a:t>
            </a:r>
          </a:p>
          <a:p>
            <a:pPr lvl="0" algn="just"/>
            <a:r>
              <a:rPr lang="en-US" sz="1800" dirty="0" smtClean="0">
                <a:latin typeface="Times New Roman" pitchFamily="18"/>
                <a:cs typeface="Times New Roman" pitchFamily="18"/>
              </a:rPr>
              <a:t>3. </a:t>
            </a:r>
            <a:r>
              <a:rPr lang="en-US" sz="1800" dirty="0" err="1" smtClean="0">
                <a:latin typeface="Times New Roman" pitchFamily="18"/>
                <a:cs typeface="Times New Roman" pitchFamily="18"/>
              </a:rPr>
              <a:t>Sneha</a:t>
            </a:r>
            <a:r>
              <a:rPr lang="en-US" sz="1800" dirty="0" smtClean="0">
                <a:latin typeface="Times New Roman" pitchFamily="18"/>
                <a:cs typeface="Times New Roman" pitchFamily="18"/>
              </a:rPr>
              <a:t> Patel A V (4GW23IS049)</a:t>
            </a:r>
          </a:p>
          <a:p>
            <a:pPr lvl="0" algn="just"/>
            <a:r>
              <a:rPr lang="en-US" sz="1800" dirty="0" smtClean="0">
                <a:latin typeface="Times New Roman" pitchFamily="18"/>
                <a:cs typeface="Times New Roman" pitchFamily="18"/>
              </a:rPr>
              <a:t>4. </a:t>
            </a:r>
            <a:r>
              <a:rPr lang="en-US" sz="1800" dirty="0" err="1" smtClean="0">
                <a:latin typeface="Times New Roman" pitchFamily="18"/>
                <a:cs typeface="Times New Roman" pitchFamily="18"/>
              </a:rPr>
              <a:t>Swathi</a:t>
            </a:r>
            <a:r>
              <a:rPr lang="en-US" sz="1800" dirty="0" smtClean="0">
                <a:latin typeface="Times New Roman" pitchFamily="18"/>
                <a:cs typeface="Times New Roman" pitchFamily="18"/>
              </a:rPr>
              <a:t> S (4GW23IS056)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40877" y="4893013"/>
            <a:ext cx="33074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 smtClean="0">
                <a:latin typeface="Times New Roman" pitchFamily="18"/>
                <a:cs typeface="Times New Roman" pitchFamily="18"/>
              </a:rPr>
              <a:t>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Chaya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</a:p>
          <a:p>
            <a:pPr algn="ctr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 GSSSIETW,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1352145" y="165370"/>
            <a:ext cx="7081736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strike="noStrike" cap="none" dirty="0">
                <a:solidFill>
                  <a:srgbClr val="000000"/>
                </a:solidFill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C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ONTENTS</a:t>
            </a:r>
            <a:endParaRPr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081520" y="6825827"/>
            <a:ext cx="2092960" cy="2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F66EEDC-C406-C152-BBB9-9696C01DE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472" y="826851"/>
            <a:ext cx="5554494" cy="6007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Proposed System with Objectives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Present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Requirement Specifications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System Architecture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Data Flow Diagrams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Test Cases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Advantages and Applications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Results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and Snapshots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Conclusion and References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579150" y="116732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smtClean="0">
                <a:solidFill>
                  <a:srgbClr val="000000"/>
                </a:solidFill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1. I</a:t>
            </a: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NTRODUCTION</a:t>
            </a:r>
            <a:endParaRPr sz="3600" b="1" dirty="0"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081520" y="6825827"/>
            <a:ext cx="2092960" cy="2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3311" y="992221"/>
            <a:ext cx="7840494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Presentations are a fundamental tool for communication in education, business, and professional settings. However, the way we control them has remained largely unchanged.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Traditional methods rely on physical devices like keyboards, mouse or remote clickers. These tools create a significant constraint:</a:t>
            </a:r>
          </a:p>
          <a:p>
            <a:pPr lvl="1" algn="just">
              <a:lnSpc>
                <a:spcPct val="20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They restrict the presenter's natural movement.</a:t>
            </a:r>
          </a:p>
          <a:p>
            <a:pPr lvl="1" algn="just">
              <a:lnSpc>
                <a:spcPct val="20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They break the natural flow and rhythm of the delivery.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This dependence on hardware highlights a critical need for a more intuitive, flexible, and engaging method of presentation control.</a:t>
            </a:r>
          </a:p>
          <a:p>
            <a:pPr algn="just">
              <a:lnSpc>
                <a:spcPct val="200000"/>
              </a:lnSpc>
            </a:pP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200000"/>
              </a:lnSpc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/>
        </p:nvSpPr>
        <p:spPr>
          <a:xfrm>
            <a:off x="579145" y="204281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2. PROPOSED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SYSTEM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081520" y="6825827"/>
            <a:ext cx="2092960" cy="2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14400" y="1060315"/>
            <a:ext cx="7772400" cy="561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01600" lvl="0" algn="just">
              <a:lnSpc>
                <a:spcPct val="200000"/>
              </a:lnSpc>
              <a:buClr>
                <a:schemeClr val="dk1"/>
              </a:buClr>
              <a:buSzPts val="2000"/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Presentations are fundamental across education and business, but their control has stagnated. </a:t>
            </a:r>
          </a:p>
          <a:p>
            <a:pPr marL="101600" lvl="0" algn="just">
              <a:lnSpc>
                <a:spcPct val="200000"/>
              </a:lnSpc>
              <a:buClr>
                <a:schemeClr val="dk1"/>
              </a:buClr>
              <a:buSzPts val="2000"/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remain dependent on physical hardware like keyboards and clickers, which physically tethers the presenter. </a:t>
            </a:r>
          </a:p>
          <a:p>
            <a:pPr marL="101600" lvl="0" algn="just">
              <a:lnSpc>
                <a:spcPct val="200000"/>
              </a:lnSpc>
              <a:buClr>
                <a:schemeClr val="dk1"/>
              </a:buClr>
              <a:buSzPts val="2000"/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restriction breaks the natural rhythm of delivery and severely limits movement and stage presence. </a:t>
            </a:r>
          </a:p>
          <a:p>
            <a:pPr marL="101600" lvl="0" algn="just">
              <a:lnSpc>
                <a:spcPct val="200000"/>
              </a:lnSpc>
              <a:buClr>
                <a:schemeClr val="dk1"/>
              </a:buClr>
              <a:buSzPts val="2000"/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Ultimately, this divides attention, forcing the presenter to focus on a device instead of connecting with the audience. </a:t>
            </a:r>
          </a:p>
          <a:p>
            <a:pPr marL="101600" lvl="0" algn="just">
              <a:lnSpc>
                <a:spcPct val="200000"/>
              </a:lnSpc>
              <a:buClr>
                <a:schemeClr val="dk1"/>
              </a:buClr>
              <a:buSzPts val="2000"/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introduces an AI-driven, hands-free system to solve these core limitations.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579150" y="214010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2. AIM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&amp; OBJECTIVES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081520" y="6825827"/>
            <a:ext cx="2092960" cy="2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01949" y="1147864"/>
            <a:ext cx="7684852" cy="527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real-time gesture-controlled presentation system that leverages computer vision and hand-tracking technologies to enable seamless slide navigation, customizable gesture-to-action mapping, and interactive control through an intuitive interface.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capture real-time hand gestures through a laptop webcam and process them using OpenCV, </a:t>
            </a: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recognition.</a:t>
            </a: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map recognized gestures into presentation controls such as slide navigation, pointer display, drawing, and erasing.</a:t>
            </a: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flexibility by allowing users to customize gesture-to-action mappings effectively.</a:t>
            </a: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user-friendly interface with live webcam overlay and performance metrics, and varied testing conditions.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579145" y="301557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3. PRESENT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SYSTEM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1001948" y="1422400"/>
            <a:ext cx="7752945" cy="5401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conventional presentation systems, users rely on hardware input devices such as keyboards, mice, or remote clickers. These methods often cause interruptions and reduce the speaker’s focus and audience engagement.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interaction interrupts the presentation flow.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external devices limits mobility.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issues for people with physical challenges.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automation and real-time adaptability.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AI-based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7081345" y="6810202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>
                <a:solidFill>
                  <a:srgbClr val="898989"/>
                </a:solidFill>
              </a:rPr>
              <a:t>6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/>
        </p:nvSpPr>
        <p:spPr>
          <a:xfrm>
            <a:off x="502983" y="136187"/>
            <a:ext cx="8595300" cy="81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4. LITERATURE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SURVEY</a:t>
            </a:r>
            <a:endParaRPr sz="3600" b="1" i="0" u="none" strike="noStrike" cap="none" dirty="0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7081520" y="6825827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graphicFrame>
        <p:nvGraphicFramePr>
          <p:cNvPr id="2" name="Content Placeholder 7">
            <a:extLst>
              <a:ext uri="{FF2B5EF4-FFF2-40B4-BE49-F238E27FC236}">
                <a16:creationId xmlns="" xmlns:a16="http://schemas.microsoft.com/office/drawing/2014/main" id="{2DA156D3-33D1-9DC2-6103-54A7E11DA3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994865539"/>
              </p:ext>
            </p:extLst>
          </p:nvPr>
        </p:nvGraphicFramePr>
        <p:xfrm>
          <a:off x="1031132" y="982493"/>
          <a:ext cx="7616759" cy="612964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120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921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201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9212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5611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8007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641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7473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latin typeface="Times New Roman"/>
                          <a:ea typeface="Times New Roman"/>
                          <a:cs typeface="Times New Roman"/>
                        </a:rPr>
                        <a:t>Sl.No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Author(s)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References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Limitations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347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Gesture Driven Presentation Control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D.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Sirisha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Real-time interactive control using Media pipe &amp; Open CV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Transactions on Human-Machine Systems.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Limited gestures; restricted to specific commands can expand gesture set and improve accuracy.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060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Enhancing Presentation Dynamics with Real-time Hand Gesture Recognition.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Divya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Upadhyay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of methods for gesture-based presentation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Access 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only lacks experiments highlights research gap in practical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implementaion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060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Approach for Dynamic Hand Gesture Recognition in Human-Robot Interaction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Arpneek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Kaur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Sandhya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Bansal</a:t>
                      </a:r>
                      <a:endParaRPr 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ML-based dynamic gesture recognition for human-robot interaction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Robotics and Automation Letters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Requires large datasets; delay in real-time interaction.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44120875"/>
                  </a:ext>
                </a:extLst>
              </a:tr>
              <a:tr h="10060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A Continuous Real-time Hand Gesture Recognition Method based on Skeleton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Thi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-Lan Le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Skeleton-based recognition system using TD-Net for detection &amp; recognition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Sensors Journal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Limited to skeleton-based input; performance may degrade in complex backgrounds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7340409"/>
                  </a:ext>
                </a:extLst>
              </a:tr>
              <a:tr h="11557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AI-Based Computer Vision Techniques and Expert Systems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Yasunari Matsuzaka, Ryu Yashiro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of AI-based CV &amp; expert systems in medical and HCI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MDPI Sensors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Mostly review; lacks experimental validation; gap in presentation-specific application.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153199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503230" y="145915"/>
            <a:ext cx="8595300" cy="74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4.LITERATURE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SURVEY</a:t>
            </a:r>
            <a:endParaRPr sz="3600" b="1" i="0" u="none" strike="noStrike" cap="none" dirty="0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EA3D469E-2778-BE06-90FD-F00A49B7F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93913208"/>
              </p:ext>
            </p:extLst>
          </p:nvPr>
        </p:nvGraphicFramePr>
        <p:xfrm>
          <a:off x="1021403" y="1050587"/>
          <a:ext cx="7665395" cy="580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8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3346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850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850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8501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9245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27756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15317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 Gesture Recognition Using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Convolutional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Neural Networks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Vijay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Madaan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Neha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Sharma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CNN-based gesture recognition; 99.97% accuracy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Chitkara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University Journal of Engineering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dataset accuracy; lacks real-time validation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 Sign &amp; Gesture Recognition System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Priyal Raj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of signs &amp; gestures for communication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Access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extension beyond sign language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287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 Gesture based AI Controller for Presentation, Virtual Drawing and System Volume Management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Akshay Kumar.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Gesture recognition for multiple controls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Amrita </a:t>
                      </a:r>
                      <a:r>
                        <a:rPr 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Vishwa</a:t>
                      </a: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Vidyapeetham</a:t>
                      </a: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GEHU / Uttaranchal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Complex; error margin increases; GPU needed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855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Gesture Based Model using Deep Learning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Anuja Dixit 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DL model for gesture-based slide control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AJ </a:t>
                      </a:r>
                      <a:r>
                        <a:rPr 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Garg</a:t>
                      </a: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Engineering College Journal.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real-world testing; can extend with better datasets &amp; robustness.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82522825"/>
                  </a:ext>
                </a:extLst>
              </a:tr>
              <a:tr h="127645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Efficient Gesture-Based Presentation Controller Using Transfer Learning Algorithm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Shaik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Faiz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Ahamed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Transfer learning for gesture control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ICCCI Conference Proceedings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Limited to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pretrained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models; high compute required.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5484478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311285" y="116732"/>
            <a:ext cx="9153728" cy="61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4. LITERATURE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SURVEY</a:t>
            </a:r>
            <a:endParaRPr sz="3600" b="1" i="0" u="none" strike="noStrike" cap="none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57B66C61-35F4-34CC-B3C8-3C0D33EED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57603426"/>
              </p:ext>
            </p:extLst>
          </p:nvPr>
        </p:nvGraphicFramePr>
        <p:xfrm>
          <a:off x="865762" y="1040859"/>
          <a:ext cx="7898859" cy="5768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4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253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28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284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2840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105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38576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1012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Dynamic Hand Gesture Recognition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Subash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Chandra Bose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Jaganathan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ML-based dynamic gesture recognition in real-time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VIT Bhopal Journal of Engineering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Needs optimization for speed &amp; dataset; focused on gestures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928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Smart Presentation System Using Hand Gestures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Bhairavi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Pustode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Smart presentation system using CV for slide control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Research Square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Early-stage; limited hardware testing.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0088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Controlling PowerPoint Presentation using Hand Gestures in Real-Time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Ch Sai Charan, K Meenakshi, V Bhavani Reddy, V Kashyap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Control PowerPoint using gestures + speech-to-text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IEEE Access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Limited scope; accuracy drops in poor lighting.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963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Automated Digital Presentation Control using Hand Gesture Technique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Salonee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Powar</a:t>
                      </a: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Gesture-based PowerPoint controller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ICACC Conference Proceedings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Limited gestures; lighting affects accuracy; can improve robustness &amp; gesture variety.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771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Hand Gesture Recognition Based on Computer Vision: A Review of Techniques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Munir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</a:rPr>
                        <a:t>Oudah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 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of CV techniques for gesture recognition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MDPI Sensors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Review only; lacks practical system; identifies methods for use in project implementation.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60247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/>
        </p:nvSpPr>
        <p:spPr>
          <a:xfrm>
            <a:off x="544748" y="204282"/>
            <a:ext cx="8499501" cy="729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  5. REQUIREMENT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SPECIFICATION</a:t>
            </a:r>
            <a:endParaRPr sz="3600" b="1" i="0" u="none" strike="noStrike" cap="none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7157720" y="6825827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79">
                <a:solidFill>
                  <a:srgbClr val="898989"/>
                </a:solidFill>
              </a:rPr>
              <a:t>2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894945" y="1011677"/>
            <a:ext cx="678017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9883" marR="0" lvl="1" indent="-134941" algn="just" rtl="0">
              <a:lnSpc>
                <a:spcPct val="18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FUNCTIONAL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992221" y="1750979"/>
            <a:ext cx="7752946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Capture: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webcam should capture real-time video frames of the presenter’s hand movements.</a:t>
            </a:r>
          </a:p>
          <a:p>
            <a:pPr>
              <a:buFont typeface="Wingdings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processes these frames and classifies gestures like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pinky up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thumb up, 3 fingers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fist.</a:t>
            </a:r>
          </a:p>
          <a:p>
            <a:pPr>
              <a:buFont typeface="Wingdings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Execution: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gestures are mapped to presentation actions such as next slide, previous slide, pause, or highlight.</a:t>
            </a:r>
          </a:p>
          <a:p>
            <a:pPr>
              <a:buFont typeface="Wingdings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live camera feed with recognized gesture label and visual feedback.</a:t>
            </a:r>
          </a:p>
          <a:p>
            <a:pPr>
              <a:buFont typeface="Wingdings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Gesture Mapping: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define their own gesture-to-command mappings.</a:t>
            </a:r>
          </a:p>
          <a:p>
            <a:pPr marL="0" marR="0" lvl="1" indent="0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/>
        </p:nvSpPr>
        <p:spPr>
          <a:xfrm>
            <a:off x="311286" y="214009"/>
            <a:ext cx="9221820" cy="749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5. REQUIREMENT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SPECIFICATION</a:t>
            </a:r>
            <a:endParaRPr sz="3600" b="1" i="0" u="none" strike="noStrike" cap="none" dirty="0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7081520" y="6825827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79">
                <a:solidFill>
                  <a:srgbClr val="898989"/>
                </a:solidFill>
              </a:rPr>
              <a:t>3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91513689-AA41-525F-4179-15E3B01D6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856" y="1118681"/>
            <a:ext cx="7723762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Gesture detection ≥ 90%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lighting and backgrounds.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Latency ≤ 200 milliseconds per gesture.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 interface, minimal configuration required.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 on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Windows,Mac,Linux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Webcam data remains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local, No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data is stored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/>
          <p:nvPr/>
        </p:nvSpPr>
        <p:spPr>
          <a:xfrm>
            <a:off x="379379" y="272374"/>
            <a:ext cx="901754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chemeClr val="dk1"/>
                </a:solidFill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5. REQUIREMENT </a:t>
            </a:r>
            <a:r>
              <a:rPr lang="en-US" sz="3600" b="1" dirty="0">
                <a:solidFill>
                  <a:schemeClr val="dk1"/>
                </a:solidFill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SPECIFICATION</a:t>
            </a:r>
            <a:endParaRPr sz="3600" b="1"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1031131" y="1254868"/>
            <a:ext cx="4747907" cy="213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HARDWARE REQUIREMENTS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</a:t>
            </a:r>
            <a:endParaRPr sz="2000" b="1" i="0" u="none" strike="noStrike" cap="none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latin typeface="Times"/>
              <a:ea typeface="Times"/>
              <a:cs typeface="Times"/>
              <a:sym typeface="Time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Intel i5 (≥2.0 GHz)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RAM: 16 GB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Storage: 500 GB HDD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Integrated Laptop Webcam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1070043" y="3696511"/>
            <a:ext cx="4708890" cy="30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SOFTWARE REQUIREMENTS</a:t>
            </a: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b="1" dirty="0">
              <a:latin typeface="Times"/>
              <a:ea typeface="Times"/>
              <a:cs typeface="Times"/>
              <a:sym typeface="Time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OS: Windows 10 or higher/ Linux / Mac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IDE: Visual Studio Code with Python Extension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Languages: Python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(AI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Libraries: OpenCV,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MediaPipe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PyAutoGUI</a:t>
            </a:r>
            <a:r>
              <a:rPr lang="en-US" sz="1800" b="1" dirty="0"/>
              <a:t> 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7081520" y="6784340"/>
            <a:ext cx="2093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80">
                <a:solidFill>
                  <a:srgbClr val="898989"/>
                </a:solidFill>
              </a:rPr>
              <a:t>5</a:t>
            </a:r>
            <a:endParaRPr/>
          </a:p>
          <a:p>
            <a:pPr marL="0" marR="0" lvl="0" indent="0" algn="r" rtl="0">
              <a:lnSpc>
                <a:spcPct val="11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8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/>
        </p:nvSpPr>
        <p:spPr>
          <a:xfrm>
            <a:off x="252918" y="155644"/>
            <a:ext cx="9231549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  6. SYSTEM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ARCHITECTURE</a:t>
            </a:r>
            <a:endParaRPr sz="3600" b="1" i="0" u="none" strike="noStrike" cap="none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3897216" y="6565280"/>
            <a:ext cx="29664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1: System architecture</a:t>
            </a:r>
            <a:endParaRPr/>
          </a:p>
        </p:txBody>
      </p:sp>
      <p:sp>
        <p:nvSpPr>
          <p:cNvPr id="266" name="Google Shape;266;p28"/>
          <p:cNvSpPr txBox="1"/>
          <p:nvPr/>
        </p:nvSpPr>
        <p:spPr>
          <a:xfrm>
            <a:off x="7081520" y="6784340"/>
            <a:ext cx="2093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80">
                <a:solidFill>
                  <a:srgbClr val="898989"/>
                </a:solidFill>
              </a:rPr>
              <a:t>6</a:t>
            </a:r>
            <a:endParaRPr/>
          </a:p>
          <a:p>
            <a:pPr marL="0" marR="0" lvl="0" indent="0" algn="r" rtl="0">
              <a:lnSpc>
                <a:spcPct val="11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8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5489" y="719848"/>
            <a:ext cx="7947498" cy="575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/>
        </p:nvSpPr>
        <p:spPr>
          <a:xfrm>
            <a:off x="311285" y="214009"/>
            <a:ext cx="9144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 7. DATA </a:t>
            </a: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FLOW DIAGRAM</a:t>
            </a:r>
            <a:endParaRPr sz="3600" b="1" i="0" u="none" strike="noStrike" cap="none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7081520" y="6784340"/>
            <a:ext cx="2093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80">
                <a:solidFill>
                  <a:srgbClr val="898989"/>
                </a:solidFill>
              </a:rPr>
              <a:t>7</a:t>
            </a:r>
            <a:endParaRPr/>
          </a:p>
          <a:p>
            <a:pPr marL="0" marR="0" lvl="0" indent="0" algn="r" rtl="0">
              <a:lnSpc>
                <a:spcPct val="11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8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4217724" y="6747466"/>
            <a:ext cx="1885712" cy="23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2 </a:t>
            </a:r>
            <a:r>
              <a:rPr lang="en-US" sz="128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.Data  Flow Diagram</a:t>
            </a:r>
            <a:endParaRPr dirty="0"/>
          </a:p>
        </p:txBody>
      </p:sp>
      <p:pic>
        <p:nvPicPr>
          <p:cNvPr id="2" name="Picture 2" descr="C:\Users\DEEPK\Downloads\diagram (3).png">
            <a:extLst>
              <a:ext uri="{FF2B5EF4-FFF2-40B4-BE49-F238E27FC236}">
                <a16:creationId xmlns="" xmlns:a16="http://schemas.microsoft.com/office/drawing/2014/main" id="{14F0B4DF-39DC-2D8A-00A1-B60A856C8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2480" y="875489"/>
            <a:ext cx="7315200" cy="56756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/>
          <p:nvPr/>
        </p:nvSpPr>
        <p:spPr>
          <a:xfrm>
            <a:off x="194553" y="145916"/>
            <a:ext cx="930937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  8. METHODOLOGY</a:t>
            </a:r>
            <a:endParaRPr sz="3600" b="1" i="0" u="none" strike="noStrike" cap="none" dirty="0">
              <a:solidFill>
                <a:srgbClr val="000000"/>
              </a:solidFill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583660" y="856035"/>
            <a:ext cx="8628434" cy="643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43" lvl="1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real-time hand gestures (swipe, palm, fist, two fingers, three fingers) using a webcam.</a:t>
            </a:r>
          </a:p>
          <a:p>
            <a:pPr marL="742943" lvl="1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samples under varied lighting conditions, backgrounds, and hand sizes to ensure robustness.</a:t>
            </a:r>
          </a:p>
          <a:p>
            <a:pPr marL="742943" lvl="1" indent="-342900" algn="just">
              <a:buFont typeface="+mj-lt"/>
              <a:buAutoNum type="arabicPeriod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43" lvl="1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webcam frames for consistency.</a:t>
            </a:r>
          </a:p>
          <a:p>
            <a:pPr marL="742943" lvl="1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image enhancements (e.g., brightness correction) to improve input quality.</a:t>
            </a:r>
          </a:p>
          <a:p>
            <a:pPr marL="742943" lvl="1" indent="-342900">
              <a:buFont typeface="+mj-lt"/>
              <a:buAutoNum type="arabicPeriod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Gesture Recognition &amp; Integration</a:t>
            </a:r>
          </a:p>
          <a:p>
            <a:pPr marL="742943" lvl="1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MediaPipe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extract hand landmarks and classify them into defined gesture classes.</a:t>
            </a:r>
          </a:p>
          <a:p>
            <a:pPr marL="742943" lvl="1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Provide support for adding custom gestures through rule-based mapping.</a:t>
            </a:r>
          </a:p>
          <a:p>
            <a:pPr marL="742943" lvl="1" indent="-342900">
              <a:buFont typeface="+mj-lt"/>
              <a:buAutoNum type="arabicPeriod"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Presentation Control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793" lvl="1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recognized gestures to presentation actions such as next/previous slide, pointer, drawing, and erasing.</a:t>
            </a:r>
          </a:p>
          <a:p>
            <a:pPr marL="742943" lvl="1" indent="-342900" algn="just">
              <a:buFont typeface="+mj-lt"/>
              <a:buAutoNum type="arabicPeriod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&amp; Customization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43" lvl="1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live webcam feed with detected gesture overlay.</a:t>
            </a:r>
          </a:p>
          <a:p>
            <a:pPr marL="742943" lvl="1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customization of gesture mappings.</a:t>
            </a:r>
          </a:p>
          <a:p>
            <a:pPr marL="742943" lvl="1" indent="-342900" algn="just">
              <a:buFont typeface="+mj-lt"/>
              <a:buAutoNum type="arabicPeriod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Performance Evaluation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43" lvl="1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across different users and environments.</a:t>
            </a:r>
          </a:p>
          <a:p>
            <a:pPr marL="742943" lvl="1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metrics such as recognition accuracy, latency, and reliability.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/>
        </p:nvSpPr>
        <p:spPr>
          <a:xfrm>
            <a:off x="233464" y="165371"/>
            <a:ext cx="929964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9. IMPLEMENTATION</a:t>
            </a:r>
            <a:endParaRPr sz="3600" b="1"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7081520" y="6784340"/>
            <a:ext cx="2093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898989"/>
                </a:solidFill>
              </a:rPr>
              <a:t>21</a:t>
            </a:r>
            <a:endParaRPr/>
          </a:p>
          <a:p>
            <a:pPr marL="0" marR="0" lvl="0" indent="0" algn="r" rtl="0">
              <a:lnSpc>
                <a:spcPct val="11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8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33"/>
          <p:cNvGrpSpPr/>
          <p:nvPr/>
        </p:nvGrpSpPr>
        <p:grpSpPr>
          <a:xfrm>
            <a:off x="1566152" y="972765"/>
            <a:ext cx="8187448" cy="5914418"/>
            <a:chOff x="0" y="0"/>
            <a:chExt cx="7856233" cy="7337333"/>
          </a:xfrm>
        </p:grpSpPr>
        <p:sp>
          <p:nvSpPr>
            <p:cNvPr id="327" name="Google Shape;327;p33"/>
            <p:cNvSpPr/>
            <p:nvPr/>
          </p:nvSpPr>
          <p:spPr>
            <a:xfrm>
              <a:off x="18034" y="18034"/>
              <a:ext cx="6349492" cy="7171436"/>
            </a:xfrm>
            <a:custGeom>
              <a:avLst/>
              <a:gdLst/>
              <a:ahLst/>
              <a:cxnLst/>
              <a:rect l="l" t="t" r="r" b="b"/>
              <a:pathLst>
                <a:path w="6349492" h="7171436" extrusionOk="0">
                  <a:moveTo>
                    <a:pt x="0" y="0"/>
                  </a:moveTo>
                  <a:lnTo>
                    <a:pt x="6349492" y="0"/>
                  </a:lnTo>
                  <a:lnTo>
                    <a:pt x="6349492" y="7171436"/>
                  </a:lnTo>
                  <a:lnTo>
                    <a:pt x="0" y="71714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8" name="Google Shape;328;p33"/>
            <p:cNvSpPr/>
            <p:nvPr/>
          </p:nvSpPr>
          <p:spPr>
            <a:xfrm>
              <a:off x="0" y="0"/>
              <a:ext cx="6385560" cy="7207503"/>
            </a:xfrm>
            <a:custGeom>
              <a:avLst/>
              <a:gdLst/>
              <a:ahLst/>
              <a:cxnLst/>
              <a:rect l="l" t="t" r="r" b="b"/>
              <a:pathLst>
                <a:path w="6385560" h="7207503" extrusionOk="0">
                  <a:moveTo>
                    <a:pt x="18034" y="0"/>
                  </a:moveTo>
                  <a:lnTo>
                    <a:pt x="6367526" y="0"/>
                  </a:lnTo>
                  <a:cubicBezTo>
                    <a:pt x="6377559" y="0"/>
                    <a:pt x="6385560" y="8128"/>
                    <a:pt x="6385560" y="18034"/>
                  </a:cubicBezTo>
                  <a:lnTo>
                    <a:pt x="6385560" y="7189470"/>
                  </a:lnTo>
                  <a:cubicBezTo>
                    <a:pt x="6385560" y="7199502"/>
                    <a:pt x="6377432" y="7207503"/>
                    <a:pt x="6367526" y="7207503"/>
                  </a:cubicBezTo>
                  <a:lnTo>
                    <a:pt x="18034" y="7207503"/>
                  </a:lnTo>
                  <a:cubicBezTo>
                    <a:pt x="8001" y="7207503"/>
                    <a:pt x="0" y="7199376"/>
                    <a:pt x="0" y="7189470"/>
                  </a:cubicBezTo>
                  <a:lnTo>
                    <a:pt x="0" y="18034"/>
                  </a:lnTo>
                  <a:cubicBezTo>
                    <a:pt x="0" y="8128"/>
                    <a:pt x="8128" y="0"/>
                    <a:pt x="18034" y="0"/>
                  </a:cubicBezTo>
                  <a:moveTo>
                    <a:pt x="18034" y="36068"/>
                  </a:moveTo>
                  <a:lnTo>
                    <a:pt x="18034" y="18034"/>
                  </a:lnTo>
                  <a:lnTo>
                    <a:pt x="36068" y="18034"/>
                  </a:lnTo>
                  <a:lnTo>
                    <a:pt x="36068" y="7189470"/>
                  </a:lnTo>
                  <a:lnTo>
                    <a:pt x="18034" y="7189470"/>
                  </a:lnTo>
                  <a:lnTo>
                    <a:pt x="18034" y="7171436"/>
                  </a:lnTo>
                  <a:lnTo>
                    <a:pt x="6367526" y="7171436"/>
                  </a:lnTo>
                  <a:lnTo>
                    <a:pt x="6367526" y="7189470"/>
                  </a:lnTo>
                  <a:lnTo>
                    <a:pt x="6349492" y="7189470"/>
                  </a:lnTo>
                  <a:lnTo>
                    <a:pt x="6349492" y="18034"/>
                  </a:lnTo>
                  <a:lnTo>
                    <a:pt x="6367526" y="18034"/>
                  </a:lnTo>
                  <a:lnTo>
                    <a:pt x="6367526" y="36068"/>
                  </a:lnTo>
                  <a:lnTo>
                    <a:pt x="18034" y="360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 txBox="1"/>
            <p:nvPr/>
          </p:nvSpPr>
          <p:spPr>
            <a:xfrm>
              <a:off x="44833" y="101333"/>
              <a:ext cx="7811400" cy="72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def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setup_gesture_detection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(self):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# Initialize our core components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self.cap = cv2.VideoCapture(0)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self.detector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=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HandDetector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detectionCon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=0.7,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maxHands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=1)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# Real-time processing loop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while True: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success, frame =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self.cap.read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hands, frame =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self.detector.findHands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(frame)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if hands: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    # Process detected hands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   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self.handle_gesture_recognition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(hands[0])</a:t>
              </a:r>
              <a:endParaRPr sz="127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/>
        </p:nvSpPr>
        <p:spPr>
          <a:xfrm>
            <a:off x="579145" y="126461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9. IMPLEMENTATION</a:t>
            </a:r>
            <a:endParaRPr sz="3600" b="1"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7081520" y="6784340"/>
            <a:ext cx="2093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80">
                <a:solidFill>
                  <a:srgbClr val="898989"/>
                </a:solidFill>
              </a:rPr>
              <a:t>9</a:t>
            </a:r>
            <a:endParaRPr/>
          </a:p>
          <a:p>
            <a:pPr marL="0" marR="0" lvl="0" indent="0" algn="r" rtl="0">
              <a:lnSpc>
                <a:spcPct val="11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8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31"/>
          <p:cNvGrpSpPr/>
          <p:nvPr/>
        </p:nvGrpSpPr>
        <p:grpSpPr>
          <a:xfrm>
            <a:off x="1459149" y="953312"/>
            <a:ext cx="8294451" cy="5593404"/>
            <a:chOff x="0" y="0"/>
            <a:chExt cx="7856233" cy="7337333"/>
          </a:xfrm>
        </p:grpSpPr>
        <p:sp>
          <p:nvSpPr>
            <p:cNvPr id="295" name="Google Shape;295;p31"/>
            <p:cNvSpPr/>
            <p:nvPr/>
          </p:nvSpPr>
          <p:spPr>
            <a:xfrm>
              <a:off x="18034" y="18034"/>
              <a:ext cx="6349492" cy="7171436"/>
            </a:xfrm>
            <a:custGeom>
              <a:avLst/>
              <a:gdLst/>
              <a:ahLst/>
              <a:cxnLst/>
              <a:rect l="l" t="t" r="r" b="b"/>
              <a:pathLst>
                <a:path w="6349492" h="7171436" extrusionOk="0">
                  <a:moveTo>
                    <a:pt x="0" y="0"/>
                  </a:moveTo>
                  <a:lnTo>
                    <a:pt x="6349492" y="0"/>
                  </a:lnTo>
                  <a:lnTo>
                    <a:pt x="6349492" y="7171436"/>
                  </a:lnTo>
                  <a:lnTo>
                    <a:pt x="0" y="71714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6" name="Google Shape;296;p31"/>
            <p:cNvSpPr/>
            <p:nvPr/>
          </p:nvSpPr>
          <p:spPr>
            <a:xfrm>
              <a:off x="0" y="0"/>
              <a:ext cx="6385560" cy="7207503"/>
            </a:xfrm>
            <a:custGeom>
              <a:avLst/>
              <a:gdLst/>
              <a:ahLst/>
              <a:cxnLst/>
              <a:rect l="l" t="t" r="r" b="b"/>
              <a:pathLst>
                <a:path w="6385560" h="7207503" extrusionOk="0">
                  <a:moveTo>
                    <a:pt x="18034" y="0"/>
                  </a:moveTo>
                  <a:lnTo>
                    <a:pt x="6367526" y="0"/>
                  </a:lnTo>
                  <a:cubicBezTo>
                    <a:pt x="6377559" y="0"/>
                    <a:pt x="6385560" y="8128"/>
                    <a:pt x="6385560" y="18034"/>
                  </a:cubicBezTo>
                  <a:lnTo>
                    <a:pt x="6385560" y="7189470"/>
                  </a:lnTo>
                  <a:cubicBezTo>
                    <a:pt x="6385560" y="7199502"/>
                    <a:pt x="6377432" y="7207503"/>
                    <a:pt x="6367526" y="7207503"/>
                  </a:cubicBezTo>
                  <a:lnTo>
                    <a:pt x="18034" y="7207503"/>
                  </a:lnTo>
                  <a:cubicBezTo>
                    <a:pt x="8001" y="7207503"/>
                    <a:pt x="0" y="7199376"/>
                    <a:pt x="0" y="7189470"/>
                  </a:cubicBezTo>
                  <a:lnTo>
                    <a:pt x="0" y="18034"/>
                  </a:lnTo>
                  <a:cubicBezTo>
                    <a:pt x="0" y="8128"/>
                    <a:pt x="8128" y="0"/>
                    <a:pt x="18034" y="0"/>
                  </a:cubicBezTo>
                  <a:moveTo>
                    <a:pt x="18034" y="36068"/>
                  </a:moveTo>
                  <a:lnTo>
                    <a:pt x="18034" y="18034"/>
                  </a:lnTo>
                  <a:lnTo>
                    <a:pt x="36068" y="18034"/>
                  </a:lnTo>
                  <a:lnTo>
                    <a:pt x="36068" y="7189470"/>
                  </a:lnTo>
                  <a:lnTo>
                    <a:pt x="18034" y="7189470"/>
                  </a:lnTo>
                  <a:lnTo>
                    <a:pt x="18034" y="7171436"/>
                  </a:lnTo>
                  <a:lnTo>
                    <a:pt x="6367526" y="7171436"/>
                  </a:lnTo>
                  <a:lnTo>
                    <a:pt x="6367526" y="7189470"/>
                  </a:lnTo>
                  <a:lnTo>
                    <a:pt x="6349492" y="7189470"/>
                  </a:lnTo>
                  <a:lnTo>
                    <a:pt x="6349492" y="18034"/>
                  </a:lnTo>
                  <a:lnTo>
                    <a:pt x="6367526" y="18034"/>
                  </a:lnTo>
                  <a:lnTo>
                    <a:pt x="6367526" y="36068"/>
                  </a:lnTo>
                  <a:lnTo>
                    <a:pt x="18034" y="360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1"/>
            <p:cNvSpPr txBox="1"/>
            <p:nvPr/>
          </p:nvSpPr>
          <p:spPr>
            <a:xfrm>
              <a:off x="44833" y="101333"/>
              <a:ext cx="7811400" cy="72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def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process_gestures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(self):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while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self.is_running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success, frame =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self.cap.read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frame = cv2.flip(frame, 1)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# Hand detection 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hands, frame =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self.detector.findHands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(frame)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if hands and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len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(hands) &gt; 0: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hand = hands[0]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fingers =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self.detector.fingersUp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(hand)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    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# Gesture recognition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if fingers == [0, 0, 0, 0, 1]:  # Pinky up = Next slide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pyautogui.press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('right')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elif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fingers == [1, 0, 0, 0, 0]:  # Thumb up = Previous slide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pyautogui.press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('left')</a:t>
              </a:r>
              <a:endParaRPr sz="127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/>
          <p:nvPr/>
        </p:nvSpPr>
        <p:spPr>
          <a:xfrm>
            <a:off x="579145" y="165370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9. IMPLEMENTATION</a:t>
            </a:r>
            <a:endParaRPr sz="3600" b="1"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7081520" y="6784340"/>
            <a:ext cx="2093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898989"/>
                </a:solidFill>
              </a:rPr>
              <a:t>20</a:t>
            </a:r>
            <a:endParaRPr/>
          </a:p>
          <a:p>
            <a:pPr marL="0" marR="0" lvl="0" indent="0" algn="r" rtl="0">
              <a:lnSpc>
                <a:spcPct val="11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8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32"/>
          <p:cNvGrpSpPr/>
          <p:nvPr/>
        </p:nvGrpSpPr>
        <p:grpSpPr>
          <a:xfrm>
            <a:off x="1429966" y="1079770"/>
            <a:ext cx="8323634" cy="5719864"/>
            <a:chOff x="0" y="0"/>
            <a:chExt cx="7856233" cy="7337333"/>
          </a:xfrm>
        </p:grpSpPr>
        <p:sp>
          <p:nvSpPr>
            <p:cNvPr id="311" name="Google Shape;311;p32"/>
            <p:cNvSpPr/>
            <p:nvPr/>
          </p:nvSpPr>
          <p:spPr>
            <a:xfrm>
              <a:off x="18034" y="18034"/>
              <a:ext cx="6349492" cy="7171436"/>
            </a:xfrm>
            <a:custGeom>
              <a:avLst/>
              <a:gdLst/>
              <a:ahLst/>
              <a:cxnLst/>
              <a:rect l="l" t="t" r="r" b="b"/>
              <a:pathLst>
                <a:path w="6349492" h="7171436" extrusionOk="0">
                  <a:moveTo>
                    <a:pt x="0" y="0"/>
                  </a:moveTo>
                  <a:lnTo>
                    <a:pt x="6349492" y="0"/>
                  </a:lnTo>
                  <a:lnTo>
                    <a:pt x="6349492" y="7171436"/>
                  </a:lnTo>
                  <a:lnTo>
                    <a:pt x="0" y="71714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2" name="Google Shape;312;p32"/>
            <p:cNvSpPr/>
            <p:nvPr/>
          </p:nvSpPr>
          <p:spPr>
            <a:xfrm>
              <a:off x="0" y="0"/>
              <a:ext cx="6385560" cy="7207503"/>
            </a:xfrm>
            <a:custGeom>
              <a:avLst/>
              <a:gdLst/>
              <a:ahLst/>
              <a:cxnLst/>
              <a:rect l="l" t="t" r="r" b="b"/>
              <a:pathLst>
                <a:path w="6385560" h="7207503" extrusionOk="0">
                  <a:moveTo>
                    <a:pt x="18034" y="0"/>
                  </a:moveTo>
                  <a:lnTo>
                    <a:pt x="6367526" y="0"/>
                  </a:lnTo>
                  <a:cubicBezTo>
                    <a:pt x="6377559" y="0"/>
                    <a:pt x="6385560" y="8128"/>
                    <a:pt x="6385560" y="18034"/>
                  </a:cubicBezTo>
                  <a:lnTo>
                    <a:pt x="6385560" y="7189470"/>
                  </a:lnTo>
                  <a:cubicBezTo>
                    <a:pt x="6385560" y="7199502"/>
                    <a:pt x="6377432" y="7207503"/>
                    <a:pt x="6367526" y="7207503"/>
                  </a:cubicBezTo>
                  <a:lnTo>
                    <a:pt x="18034" y="7207503"/>
                  </a:lnTo>
                  <a:cubicBezTo>
                    <a:pt x="8001" y="7207503"/>
                    <a:pt x="0" y="7199376"/>
                    <a:pt x="0" y="7189470"/>
                  </a:cubicBezTo>
                  <a:lnTo>
                    <a:pt x="0" y="18034"/>
                  </a:lnTo>
                  <a:cubicBezTo>
                    <a:pt x="0" y="8128"/>
                    <a:pt x="8128" y="0"/>
                    <a:pt x="18034" y="0"/>
                  </a:cubicBezTo>
                  <a:moveTo>
                    <a:pt x="18034" y="36068"/>
                  </a:moveTo>
                  <a:lnTo>
                    <a:pt x="18034" y="18034"/>
                  </a:lnTo>
                  <a:lnTo>
                    <a:pt x="36068" y="18034"/>
                  </a:lnTo>
                  <a:lnTo>
                    <a:pt x="36068" y="7189470"/>
                  </a:lnTo>
                  <a:lnTo>
                    <a:pt x="18034" y="7189470"/>
                  </a:lnTo>
                  <a:lnTo>
                    <a:pt x="18034" y="7171436"/>
                  </a:lnTo>
                  <a:lnTo>
                    <a:pt x="6367526" y="7171436"/>
                  </a:lnTo>
                  <a:lnTo>
                    <a:pt x="6367526" y="7189470"/>
                  </a:lnTo>
                  <a:lnTo>
                    <a:pt x="6349492" y="7189470"/>
                  </a:lnTo>
                  <a:lnTo>
                    <a:pt x="6349492" y="18034"/>
                  </a:lnTo>
                  <a:lnTo>
                    <a:pt x="6367526" y="18034"/>
                  </a:lnTo>
                  <a:lnTo>
                    <a:pt x="6367526" y="36068"/>
                  </a:lnTo>
                  <a:lnTo>
                    <a:pt x="18034" y="360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2"/>
            <p:cNvSpPr txBox="1"/>
            <p:nvPr/>
          </p:nvSpPr>
          <p:spPr>
            <a:xfrm>
              <a:off x="44833" y="101333"/>
              <a:ext cx="7811400" cy="72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# Customizable gesture mappings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GESTURE_MAPPINGS = {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'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next_slide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': [0, 0, 0, 0, 1],      # Pinky up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'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previous_slide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': [1, 0, 0, 0, 0],  # Thumb up  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'pointer': [0, 1, 1, 0, 0],         # Index + Middle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'draw': [0, 1, 0, 0, 0],            # Index up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'erase': [0, 1, 1, 1, 0]            # Three fingers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</a:p>
            <a:p>
              <a:pPr lvl="0" algn="just">
                <a:lnSpc>
                  <a:spcPct val="120015"/>
                </a:lnSpc>
              </a:pPr>
              <a:endParaRPr lang="en-US" sz="1279" dirty="0" smtClean="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def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execute_gesture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(self, fingers):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for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gesture_name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finger_pattern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in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self.GESTURE_MAPPINGS.items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():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if fingers ==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finger_pattern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    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self.perform_action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279" dirty="0" err="1" smtClean="0">
                  <a:latin typeface="Times New Roman"/>
                  <a:ea typeface="Times New Roman"/>
                  <a:cs typeface="Times New Roman"/>
                  <a:sym typeface="Times New Roman"/>
                </a:rPr>
                <a:t>gesture_name</a:t>
              </a: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</a:p>
            <a:p>
              <a:pPr lvl="0" algn="just">
                <a:lnSpc>
                  <a:spcPct val="120015"/>
                </a:lnSpc>
              </a:pPr>
              <a:r>
                <a:rPr lang="en-US" sz="1279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            break</a:t>
              </a:r>
              <a:endParaRPr sz="127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/>
        </p:nvSpPr>
        <p:spPr>
          <a:xfrm>
            <a:off x="204281" y="165371"/>
            <a:ext cx="931909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 10. TEST CASES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53" name="Google Shape;353;p35"/>
          <p:cNvGraphicFramePr/>
          <p:nvPr/>
        </p:nvGraphicFramePr>
        <p:xfrm>
          <a:off x="778214" y="1079771"/>
          <a:ext cx="8219871" cy="4274284"/>
        </p:xfrm>
        <a:graphic>
          <a:graphicData uri="http://schemas.openxmlformats.org/drawingml/2006/table">
            <a:tbl>
              <a:tblPr>
                <a:noFill/>
                <a:tableStyleId>{7D47A462-6246-42F4-8CBC-F149CEE1F7AC}</a:tableStyleId>
              </a:tblPr>
              <a:tblGrid>
                <a:gridCol w="8378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779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2657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14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923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8116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9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Times"/>
                          <a:cs typeface="Times New Roman" pitchFamily="18" charset="0"/>
                          <a:sym typeface="Times"/>
                        </a:rPr>
                        <a:t>Case Number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9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Times"/>
                          <a:cs typeface="Times New Roman" pitchFamily="18" charset="0"/>
                          <a:sym typeface="Times"/>
                        </a:rPr>
                        <a:t>Scenario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9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Times"/>
                          <a:cs typeface="Times New Roman" pitchFamily="18" charset="0"/>
                          <a:sym typeface="Times"/>
                        </a:rPr>
                        <a:t>Expected Result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9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Times"/>
                          <a:cs typeface="Times New Roman" pitchFamily="18" charset="0"/>
                          <a:sym typeface="Times"/>
                        </a:rPr>
                        <a:t>Actual Result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9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Times"/>
                          <a:cs typeface="Times New Roman" pitchFamily="18" charset="0"/>
                          <a:sym typeface="Times"/>
                        </a:rPr>
                        <a:t>Status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3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1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Presenter shows ‘Pinky Up’ gesture</a:t>
                      </a:r>
                      <a:endParaRPr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System moves to next slide</a:t>
                      </a:r>
                      <a:endParaRPr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Next slide displayed successfully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Pass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178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2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Presenter shows Thumb Up’ gesture</a:t>
                      </a:r>
                      <a:endParaRPr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System moves to previous slide</a:t>
                      </a:r>
                      <a:endParaRPr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Previous slide displayed successfully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Pass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04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3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Presenter shows ‘Index Finger Up’ gesture</a:t>
                      </a:r>
                      <a:endParaRPr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System activates drawing mode</a:t>
                      </a:r>
                      <a:endParaRPr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Drawing enabled on current slide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Pass</a:t>
                      </a:r>
                      <a:endParaRPr u="none" strike="noStrike" cap="none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4" name="Google Shape;354;p35"/>
          <p:cNvSpPr txBox="1"/>
          <p:nvPr/>
        </p:nvSpPr>
        <p:spPr>
          <a:xfrm>
            <a:off x="7081520" y="6971453"/>
            <a:ext cx="2093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8212" y="5340485"/>
          <a:ext cx="8229601" cy="1783547"/>
        </p:xfrm>
        <a:graphic>
          <a:graphicData uri="http://schemas.openxmlformats.org/drawingml/2006/table">
            <a:tbl>
              <a:tblPr firstRow="1" bandRow="1">
                <a:tableStyleId>{7D47A462-6246-42F4-8CBC-F149CEE1F7AC}</a:tableStyleId>
              </a:tblPr>
              <a:tblGrid>
                <a:gridCol w="836305"/>
                <a:gridCol w="1692887"/>
                <a:gridCol w="2820494"/>
                <a:gridCol w="1979384"/>
                <a:gridCol w="900531"/>
              </a:tblGrid>
              <a:tr h="8754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Presenter shows ‘Two fingers Up’ gesture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System activates pointer mode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Red pointer appears on screen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Pass</a:t>
                      </a:r>
                      <a:endParaRPr lang="en-US" u="none" strike="noStrike" cap="none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9080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Presenter shows ‘Three Fingers Up’ gesture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System erases annotations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All drawings cleared from slide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none" strike="noStrike" cap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Pass</a:t>
                      </a:r>
                      <a:endParaRPr lang="en-US" u="none" strike="noStrike" cap="none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/>
        </p:nvSpPr>
        <p:spPr>
          <a:xfrm>
            <a:off x="243190" y="282102"/>
            <a:ext cx="934828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11. ADVANTAGES</a:t>
            </a:r>
            <a:endParaRPr sz="3600" b="1"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7081520" y="6879590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79">
                <a:solidFill>
                  <a:srgbClr val="898989"/>
                </a:solidFill>
              </a:rPr>
              <a:t>4</a:t>
            </a:r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579150" y="2047850"/>
            <a:ext cx="8595300" cy="42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1F4D578-F024-65D0-DABC-C99EE28F4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587" y="1264596"/>
            <a:ext cx="748057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Hands-free operation: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smooth and uninterrupted presentations.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physically challenged individuals to present easily.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engagement: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Presenter maintains eye contact and audience focus.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external hardware required: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cost and setup complexity.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gestures: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Adapts to user preferences.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Encourages adoption of smart interaction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/>
        </p:nvSpPr>
        <p:spPr>
          <a:xfrm>
            <a:off x="214009" y="204281"/>
            <a:ext cx="930937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11. APPLICATIONS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9" name="Google Shape;369;p37"/>
          <p:cNvSpPr txBox="1"/>
          <p:nvPr/>
        </p:nvSpPr>
        <p:spPr>
          <a:xfrm>
            <a:off x="7081520" y="6879590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79">
                <a:solidFill>
                  <a:srgbClr val="898989"/>
                </a:solidFill>
              </a:rPr>
              <a:t>5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A8453E6-3E22-3343-BD66-9C0E726D7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140" y="1235412"/>
            <a:ext cx="720819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and Corporate Presentations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Hands-free slide control during seminars and conferences.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Education Platforms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Teachers can change slides while explaining without touching devices.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Meetings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Smooth control during webinars and video conferences.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Beneficial for users with mobility or physical limitations.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Human-Computer Interaction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Foundation for AI gesture-based user interfaces.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Public Kiosks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Touchless control for public displays or museum installations.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/>
        </p:nvSpPr>
        <p:spPr>
          <a:xfrm>
            <a:off x="579145" y="282103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12. RESULTS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0" name="Google Shape;380;p38"/>
          <p:cNvSpPr txBox="1"/>
          <p:nvPr/>
        </p:nvSpPr>
        <p:spPr>
          <a:xfrm>
            <a:off x="7081520" y="6900809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79">
                <a:solidFill>
                  <a:srgbClr val="898989"/>
                </a:solidFill>
              </a:rPr>
              <a:t>6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1449421" y="6364600"/>
            <a:ext cx="244164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3: </a:t>
            </a:r>
            <a:r>
              <a:rPr lang="en-US" sz="15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Interface for Gesture Presentation System</a:t>
            </a:r>
            <a:endParaRPr sz="1500"/>
          </a:p>
        </p:txBody>
      </p:sp>
      <p:pic>
        <p:nvPicPr>
          <p:cNvPr id="1026" name="Picture 2" descr="C:\Users\DEEPK\Pictures\Screenshots\Screenshot (1633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387" y="1196502"/>
            <a:ext cx="4176570" cy="4824919"/>
          </a:xfrm>
          <a:prstGeom prst="rect">
            <a:avLst/>
          </a:prstGeom>
          <a:noFill/>
        </p:spPr>
      </p:pic>
      <p:pic>
        <p:nvPicPr>
          <p:cNvPr id="6" name="Picture 2" descr="C:\Users\DEEPK\Pictures\Screenshots\Screenshot (1634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12471" y="1154821"/>
            <a:ext cx="4260714" cy="483741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6040876" y="6313250"/>
            <a:ext cx="2402733" cy="621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31"/>
              </a:lnSpc>
            </a:pPr>
            <a:r>
              <a:rPr lang="en-US" sz="1500" dirty="0" smtClean="0">
                <a:latin typeface="Times New Roman"/>
                <a:ea typeface="Times New Roman"/>
                <a:cs typeface="Times New Roman"/>
                <a:sym typeface="Times New Roman"/>
              </a:rPr>
              <a:t>Fig 4: Uploading PPT to the system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0"/>
          <p:cNvSpPr txBox="1"/>
          <p:nvPr/>
        </p:nvSpPr>
        <p:spPr>
          <a:xfrm>
            <a:off x="579145" y="407735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12. RESULTS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0" name="Google Shape;400;p40"/>
          <p:cNvSpPr txBox="1"/>
          <p:nvPr/>
        </p:nvSpPr>
        <p:spPr>
          <a:xfrm>
            <a:off x="7081520" y="6879590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79">
                <a:solidFill>
                  <a:srgbClr val="898989"/>
                </a:solidFill>
              </a:rPr>
              <a:t>8</a:t>
            </a:r>
            <a:endParaRPr/>
          </a:p>
        </p:txBody>
      </p:sp>
      <p:sp>
        <p:nvSpPr>
          <p:cNvPr id="401" name="Google Shape;401;p40"/>
          <p:cNvSpPr txBox="1"/>
          <p:nvPr/>
        </p:nvSpPr>
        <p:spPr>
          <a:xfrm>
            <a:off x="1147864" y="6459855"/>
            <a:ext cx="31906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5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for next slide</a:t>
            </a:r>
            <a:endParaRPr sz="1500"/>
          </a:p>
        </p:txBody>
      </p:sp>
      <p:pic>
        <p:nvPicPr>
          <p:cNvPr id="3074" name="Picture 2" descr="C:\Users\DEEPK\Pictures\Screenshots\Screenshot (1635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750" y="1222916"/>
            <a:ext cx="4305613" cy="5070880"/>
          </a:xfrm>
          <a:prstGeom prst="rect">
            <a:avLst/>
          </a:prstGeom>
          <a:noFill/>
        </p:spPr>
      </p:pic>
      <p:pic>
        <p:nvPicPr>
          <p:cNvPr id="6" name="Picture 2" descr="C:\Users\DEEPK\Pictures\Screenshots\Screenshot (1636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4897" y="1229873"/>
            <a:ext cx="4198831" cy="5063923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749046" y="6420255"/>
            <a:ext cx="29085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1500" dirty="0" smtClean="0">
                <a:latin typeface="Times New Roman"/>
                <a:ea typeface="Times New Roman"/>
                <a:cs typeface="Times New Roman"/>
                <a:sym typeface="Times New Roman"/>
              </a:rPr>
              <a:t>Fig 6:Gesture for previous slide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/>
        </p:nvSpPr>
        <p:spPr>
          <a:xfrm>
            <a:off x="579145" y="407735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12. RESULTS</a:t>
            </a:r>
            <a:endParaRPr sz="3600" b="1">
              <a:latin typeface="Times New Roman" pitchFamily="18" charset="0"/>
              <a:ea typeface="Times"/>
              <a:cs typeface="Times New Roman" pitchFamily="18" charset="0"/>
              <a:sym typeface="Times"/>
            </a:endParaRPr>
          </a:p>
        </p:txBody>
      </p:sp>
      <p:sp>
        <p:nvSpPr>
          <p:cNvPr id="420" name="Google Shape;420;p42"/>
          <p:cNvSpPr txBox="1"/>
          <p:nvPr/>
        </p:nvSpPr>
        <p:spPr>
          <a:xfrm>
            <a:off x="7081520" y="6879590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>
                <a:solidFill>
                  <a:srgbClr val="898989"/>
                </a:solidFill>
              </a:rPr>
              <a:t>30</a:t>
            </a:r>
            <a:endParaRPr/>
          </a:p>
        </p:txBody>
      </p:sp>
      <p:sp>
        <p:nvSpPr>
          <p:cNvPr id="421" name="Google Shape;421;p42"/>
          <p:cNvSpPr txBox="1"/>
          <p:nvPr/>
        </p:nvSpPr>
        <p:spPr>
          <a:xfrm>
            <a:off x="1206230" y="6383655"/>
            <a:ext cx="30058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500" dirty="0" smtClean="0">
                <a:latin typeface="Times New Roman"/>
                <a:ea typeface="Times New Roman"/>
                <a:cs typeface="Times New Roman"/>
                <a:sym typeface="Times New Roman"/>
              </a:rPr>
              <a:t>Gesture for pointer function</a:t>
            </a:r>
            <a:endParaRPr sz="1500"/>
          </a:p>
        </p:txBody>
      </p:sp>
      <p:pic>
        <p:nvPicPr>
          <p:cNvPr id="5122" name="Picture 2" descr="C:\Users\DEEPK\Pictures\Screenshots\Screenshot (1649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749" y="1113344"/>
            <a:ext cx="4392348" cy="5180452"/>
          </a:xfrm>
          <a:prstGeom prst="rect">
            <a:avLst/>
          </a:prstGeom>
          <a:noFill/>
        </p:spPr>
      </p:pic>
      <p:pic>
        <p:nvPicPr>
          <p:cNvPr id="6" name="Picture 2" descr="C:\Users\DEEPK\Pictures\Screenshots\Screenshot (1653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200" y="1166913"/>
            <a:ext cx="4260715" cy="50977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768501" y="6332706"/>
            <a:ext cx="3151763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Fig 8: Gesture for Annotation function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"/>
          <p:cNvSpPr txBox="1"/>
          <p:nvPr/>
        </p:nvSpPr>
        <p:spPr>
          <a:xfrm>
            <a:off x="579145" y="155643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12. RESULTS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0" name="Google Shape;440;p44"/>
          <p:cNvSpPr txBox="1"/>
          <p:nvPr/>
        </p:nvSpPr>
        <p:spPr>
          <a:xfrm>
            <a:off x="7081520" y="6879590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279">
                <a:solidFill>
                  <a:srgbClr val="898989"/>
                </a:solidFill>
              </a:rPr>
              <a:t>2</a:t>
            </a:r>
            <a:endParaRPr/>
          </a:p>
        </p:txBody>
      </p:sp>
      <p:sp>
        <p:nvSpPr>
          <p:cNvPr id="441" name="Google Shape;441;p44"/>
          <p:cNvSpPr txBox="1"/>
          <p:nvPr/>
        </p:nvSpPr>
        <p:spPr>
          <a:xfrm>
            <a:off x="1157591" y="6527260"/>
            <a:ext cx="304475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9: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dirty="0" smtClean="0">
                <a:latin typeface="Times New Roman"/>
                <a:ea typeface="Times New Roman"/>
                <a:cs typeface="Times New Roman"/>
                <a:sym typeface="Times New Roman"/>
              </a:rPr>
              <a:t>Gesture for Erasing Function</a:t>
            </a:r>
            <a:endParaRPr sz="1500"/>
          </a:p>
        </p:txBody>
      </p:sp>
      <p:pic>
        <p:nvPicPr>
          <p:cNvPr id="7170" name="Picture 2" descr="C:\Users\DEEPK\Pictures\Screenshots\Screenshot (1654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205" y="836579"/>
            <a:ext cx="4289898" cy="5544766"/>
          </a:xfrm>
          <a:prstGeom prst="rect">
            <a:avLst/>
          </a:prstGeom>
          <a:noFill/>
        </p:spPr>
      </p:pic>
      <p:pic>
        <p:nvPicPr>
          <p:cNvPr id="6" name="Picture 2" descr="C:\Users\DEEPK\Pictures\Screenshots\Screenshot (1655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93013" y="845902"/>
            <a:ext cx="4416357" cy="554517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661498" y="6498077"/>
            <a:ext cx="3151762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1500" dirty="0" smtClean="0">
                <a:latin typeface="Times New Roman"/>
                <a:ea typeface="Times New Roman"/>
                <a:cs typeface="Times New Roman"/>
                <a:sym typeface="Times New Roman"/>
              </a:rPr>
              <a:t>Fig 10: Gesture Customization tab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 txBox="1"/>
          <p:nvPr/>
        </p:nvSpPr>
        <p:spPr>
          <a:xfrm>
            <a:off x="233463" y="243192"/>
            <a:ext cx="9270459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 13. CONCLUSION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8" name="Google Shape;458;p46"/>
          <p:cNvSpPr txBox="1"/>
          <p:nvPr/>
        </p:nvSpPr>
        <p:spPr>
          <a:xfrm>
            <a:off x="7081520" y="6825827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279">
                <a:solidFill>
                  <a:srgbClr val="898989"/>
                </a:solidFill>
              </a:rPr>
              <a:t>4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0F469B8-FD11-C759-8A18-0BB888F9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404" y="1177047"/>
            <a:ext cx="7752946" cy="559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 project successfully demonstrates 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hands-free, AI-based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for controlling presentations using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hand gestures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It enhances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efficiency, accessibility, and user interaction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removing the need for external devices like remotes or keyboards.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solution promotes a seamless and engaging presentation experience, making it useful for education, corporate, and accessibility applications.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Overall, this work highlights the potential of AI and Computer Vision in building smart, intuitive human–computer interfaces.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7"/>
          <p:cNvSpPr txBox="1"/>
          <p:nvPr/>
        </p:nvSpPr>
        <p:spPr>
          <a:xfrm>
            <a:off x="579145" y="407717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14. REFERENCES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7" name="Google Shape;467;p47"/>
          <p:cNvSpPr txBox="1"/>
          <p:nvPr/>
        </p:nvSpPr>
        <p:spPr>
          <a:xfrm>
            <a:off x="7081520" y="6825827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279">
                <a:solidFill>
                  <a:srgbClr val="898989"/>
                </a:solidFill>
              </a:rPr>
              <a:t>5</a:t>
            </a:r>
            <a:endParaRPr/>
          </a:p>
        </p:txBody>
      </p:sp>
      <p:sp>
        <p:nvSpPr>
          <p:cNvPr id="470" name="Google Shape;470;p47"/>
          <p:cNvSpPr txBox="1"/>
          <p:nvPr/>
        </p:nvSpPr>
        <p:spPr>
          <a:xfrm>
            <a:off x="817123" y="1167319"/>
            <a:ext cx="8054504" cy="608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just">
              <a:spcBef>
                <a:spcPts val="100"/>
              </a:spcBef>
              <a:buNone/>
            </a:pPr>
            <a:r>
              <a:rPr lang="en-US" sz="1500" dirty="0">
                <a:solidFill>
                  <a:srgbClr val="210A26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[1] D. Sirisha, G. S. Reddy, R. U. Sri, R. Hemanth, and P. M. Kalyan, “Gesture Driven Presentation Control,” Int. J. Eng. Sci. Adv. Technol. (IJESAT</a:t>
            </a:r>
            <a:r>
              <a:rPr lang="en-US" sz="1500" i="1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vol. 24, no. 5, May 2024.</a:t>
            </a:r>
          </a:p>
          <a:p>
            <a:pPr marL="180000" indent="-457200" algn="just">
              <a:spcBef>
                <a:spcPts val="100"/>
              </a:spcBef>
              <a:buFont typeface="+mj-lt"/>
              <a:buAutoNum type="arabicPeriod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100"/>
              </a:spcBef>
              <a:buNone/>
            </a:pP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[2] D. Upadhyay, P. Sati, and N. Jain, “Enhancing Presentation Dynamics with Real-Time Hand Gesture Recognition: A Review,” IEEE Access, 2024.</a:t>
            </a:r>
          </a:p>
          <a:p>
            <a:pPr marL="457200" indent="-457200" algn="just">
              <a:spcBef>
                <a:spcPts val="100"/>
              </a:spcBef>
              <a:buFont typeface="+mj-lt"/>
              <a:buAutoNum type="arabicPeriod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100"/>
              </a:spcBef>
              <a:buNone/>
            </a:pP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[3] A. Kaur and S. Bansal, “A Machine Learning Based Approach for Dynamic Hand Gesture Recognition in Human-Robot Interaction,” IEEE Robotics and Automation Letters, 2024.</a:t>
            </a:r>
          </a:p>
          <a:p>
            <a:pPr marL="457200" indent="-457200" algn="just">
              <a:spcBef>
                <a:spcPts val="100"/>
              </a:spcBef>
              <a:buFont typeface="+mj-lt"/>
              <a:buAutoNum type="arabicPeriod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100"/>
              </a:spcBef>
              <a:buNone/>
            </a:pP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[4] T. L. Le, “A Continuous Real-Time Hand Gesture Recognition Method Based on Skeleton,” IEEE Sensors Journal, 2024.</a:t>
            </a:r>
          </a:p>
          <a:p>
            <a:pPr marL="457200" indent="-457200" algn="just">
              <a:spcBef>
                <a:spcPts val="100"/>
              </a:spcBef>
              <a:buFont typeface="+mj-lt"/>
              <a:buAutoNum type="arabicPeriod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100"/>
              </a:spcBef>
              <a:buNone/>
            </a:pP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[5] Y. Matsuzaka and R. Yashiro, “AI-Based Computer Vision Techniques and Expert Systems,” AI, vol. 4, no. 1, pp. 289–302, Feb. 2023.</a:t>
            </a:r>
          </a:p>
          <a:p>
            <a:pPr marL="457200" indent="-457200" algn="just">
              <a:spcBef>
                <a:spcPts val="100"/>
              </a:spcBef>
              <a:buFont typeface="+mj-lt"/>
              <a:buAutoNum type="arabicPeriod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[6] V. Madaan and N. Sharma, “Hand Gesture Recognition Using Convolutional Neural Networks,” Chitkara University Journal of Engineering, 2023.</a:t>
            </a:r>
          </a:p>
          <a:p>
            <a:pPr marL="342900" indent="-342900" algn="just">
              <a:buFont typeface="+mj-lt"/>
              <a:buAutoNum type="arabicPeriod" startAt="6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[7] P. Raj, M. Singh, S. Pandey, and Y. Singh, “Hand Sign &amp; Gesture Recognition System,” IEEE Access, 2023.</a:t>
            </a:r>
          </a:p>
          <a:p>
            <a:pPr marL="342900" indent="-342900" algn="just">
              <a:buFont typeface="+mj-lt"/>
              <a:buAutoNum type="arabicPeriod" startAt="6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[8] A. Kumar, H. Anandaram, R. Pandey, K. Joshi, K. Alam, and S. Chaudhary, “Hand Gesture Based AI Controller for Presentation, Virtual Drawing and System Volume Management,” Amrita Vishwa Vidyapeetham / GEHU / Uttaranchal Univ. Research Publication, 2023.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5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8"/>
          <p:cNvSpPr txBox="1"/>
          <p:nvPr/>
        </p:nvSpPr>
        <p:spPr>
          <a:xfrm>
            <a:off x="579145" y="407717"/>
            <a:ext cx="85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itchFamily="18" charset="0"/>
                <a:ea typeface="Times"/>
                <a:cs typeface="Times New Roman" pitchFamily="18" charset="0"/>
                <a:sym typeface="Times"/>
              </a:rPr>
              <a:t>REFERENCES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7081520" y="6825827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279">
                <a:solidFill>
                  <a:srgbClr val="898989"/>
                </a:solidFill>
              </a:rPr>
              <a:t>6</a:t>
            </a:r>
            <a:endParaRPr/>
          </a:p>
        </p:txBody>
      </p:sp>
      <p:sp>
        <p:nvSpPr>
          <p:cNvPr id="479" name="Google Shape;479;p48"/>
          <p:cNvSpPr txBox="1"/>
          <p:nvPr/>
        </p:nvSpPr>
        <p:spPr>
          <a:xfrm>
            <a:off x="953311" y="1206231"/>
            <a:ext cx="7645940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[9] A. Dixit, S. Jain, A. Kazmi, Aakanksha, and K. Manorama, “Gesture Based Model Using Deep Learning,” Ajay Kumar Garg Engineering College Journal, 2023.</a:t>
            </a:r>
          </a:p>
          <a:p>
            <a:pPr marL="342900" indent="-342900" algn="just">
              <a:buFont typeface="+mj-lt"/>
              <a:buAutoNum type="arabicPeriod" startAt="9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[10] S. F. Ahamed, S. Srithar, P. Sandeep, and T. </a:t>
            </a:r>
            <a:r>
              <a:rPr lang="en-US" sz="1500" dirty="0" err="1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Paraselli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“Efficient Gesture-Based Presentation Controller Using Transfer Learning Algorithm,” IEEE Conf. Computer Communication and Informatics (ICCCI), Jan. 2023.</a:t>
            </a:r>
          </a:p>
          <a:p>
            <a:pPr marL="342900" indent="-342900" algn="just">
              <a:buFont typeface="+mj-lt"/>
              <a:buAutoNum type="arabicPeriod" startAt="9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[11] S. C. B. Jaganathan, K. Basak, K. R., S. Verma, T. Prakash, and A. Mital, “Dynamic Hand Gesture Recognition,” VIT Bhopal University Technical Report, 2023.</a:t>
            </a:r>
          </a:p>
          <a:p>
            <a:pPr marL="342900" indent="-342900" algn="just">
              <a:buFont typeface="+mj-lt"/>
              <a:buAutoNum type="arabicPeriod" startAt="9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[12] B. </a:t>
            </a:r>
            <a:r>
              <a:rPr lang="en-US" sz="1500" dirty="0" err="1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Pustode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V. Pawar, V. Pawar, T. Pawar, and S. </a:t>
            </a:r>
            <a:r>
              <a:rPr lang="en-US" sz="1500" dirty="0" err="1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Pokale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“Smart Presentation System Using Hand Gestures,” Research Square Preprint, Feb. 2023.</a:t>
            </a:r>
          </a:p>
          <a:p>
            <a:pPr marL="342900" indent="-342900" algn="just">
              <a:buFont typeface="+mj-lt"/>
              <a:buAutoNum type="arabicPeriod" startAt="9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[13] C. S. Charan, K. Meenakshi, V. B. Reddy, and V. Kashyap, “Controlling PowerPoint Presentation Using Hand Gestures in Real-Time,” IEEE Access, 2023.</a:t>
            </a:r>
          </a:p>
          <a:p>
            <a:pPr marL="342900" indent="-342900" algn="just">
              <a:buFont typeface="+mj-lt"/>
              <a:buAutoNum type="arabicPeriod" startAt="9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[14] S. Powar, S. Kadam, S. </a:t>
            </a:r>
            <a:r>
              <a:rPr lang="en-US" sz="1500" dirty="0" err="1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Malage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and P. </a:t>
            </a:r>
            <a:r>
              <a:rPr lang="en-US" sz="1500" dirty="0" err="1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Shingane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“Automated Digital Presentation Control Using Hand Gesture Technique,”  IEEE Conf. Advances in Computer Communication (ICACC), 2022.</a:t>
            </a:r>
          </a:p>
          <a:p>
            <a:pPr marL="342900" indent="-342900" algn="just">
              <a:buFont typeface="+mj-lt"/>
              <a:buAutoNum type="arabicPeriod" startAt="9"/>
            </a:pPr>
            <a:endParaRPr lang="en-US" sz="1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[15] M. </a:t>
            </a:r>
            <a:r>
              <a:rPr lang="en-US" sz="1500" dirty="0" err="1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Oudah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A. Al-Naji, and J. </a:t>
            </a:r>
            <a:r>
              <a:rPr lang="en-US" sz="1500" dirty="0" err="1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Chahl</a:t>
            </a:r>
            <a:r>
              <a:rPr lang="en-US" sz="1500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, “Hand Gesture Recognition Based on Computer Vision: A Review of Techniques,” Journal of Imaging, vol. 6, no. 73, pp. 1–23, Jul. 2020.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9"/>
          <p:cNvSpPr txBox="1"/>
          <p:nvPr/>
        </p:nvSpPr>
        <p:spPr>
          <a:xfrm>
            <a:off x="7081520" y="6825827"/>
            <a:ext cx="209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9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279">
                <a:solidFill>
                  <a:srgbClr val="898989"/>
                </a:solidFill>
              </a:rPr>
              <a:t>7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724B1A9-0763-4906-1AF5-C73B6C32BAC1}"/>
              </a:ext>
            </a:extLst>
          </p:cNvPr>
          <p:cNvSpPr txBox="1"/>
          <p:nvPr/>
        </p:nvSpPr>
        <p:spPr>
          <a:xfrm>
            <a:off x="2422442" y="2869325"/>
            <a:ext cx="49087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2615</Words>
  <Application>Microsoft Office PowerPoint</Application>
  <PresentationFormat>Custom</PresentationFormat>
  <Paragraphs>435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LOKESH</dc:creator>
  <cp:lastModifiedBy>DEEPK</cp:lastModifiedBy>
  <cp:revision>45</cp:revision>
  <dcterms:modified xsi:type="dcterms:W3CDTF">2025-11-06T10:47:53Z</dcterms:modified>
</cp:coreProperties>
</file>