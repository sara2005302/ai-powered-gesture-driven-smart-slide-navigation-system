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7" r:id="rId4"/>
    <p:sldId id="265" r:id="rId5"/>
    <p:sldId id="269" r:id="rId6"/>
    <p:sldId id="258" r:id="rId7"/>
    <p:sldId id="259" r:id="rId8"/>
    <p:sldId id="260" r:id="rId9"/>
    <p:sldId id="263" r:id="rId10"/>
    <p:sldId id="275" r:id="rId11"/>
    <p:sldId id="280" r:id="rId12"/>
    <p:sldId id="276" r:id="rId13"/>
    <p:sldId id="277" r:id="rId14"/>
    <p:sldId id="278" r:id="rId15"/>
  </p:sldIdLst>
  <p:sldSz cx="9144000" cy="6858000" type="screen4x3"/>
  <p:notesSz cx="6858000" cy="9144000"/>
  <p:defaultTextStyle>
    <a:defPPr>
      <a:defRPr lang="en-US"/>
    </a:defPPr>
    <a:lvl1pPr marL="0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2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6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7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70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64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56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4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42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>
      <p:cViewPr varScale="1">
        <p:scale>
          <a:sx n="83" d="100"/>
          <a:sy n="83" d="100"/>
        </p:scale>
        <p:origin x="-145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2" indent="0">
              <a:buNone/>
              <a:defRPr sz="2000" b="1"/>
            </a:lvl2pPr>
            <a:lvl3pPr marL="914386" indent="0">
              <a:buNone/>
              <a:defRPr sz="1800" b="1"/>
            </a:lvl3pPr>
            <a:lvl4pPr marL="1371578" indent="0">
              <a:buNone/>
              <a:defRPr sz="1600" b="1"/>
            </a:lvl4pPr>
            <a:lvl5pPr marL="1828770" indent="0">
              <a:buNone/>
              <a:defRPr sz="1600" b="1"/>
            </a:lvl5pPr>
            <a:lvl6pPr marL="2285964" indent="0">
              <a:buNone/>
              <a:defRPr sz="1600" b="1"/>
            </a:lvl6pPr>
            <a:lvl7pPr marL="2743156" indent="0">
              <a:buNone/>
              <a:defRPr sz="1600" b="1"/>
            </a:lvl7pPr>
            <a:lvl8pPr marL="3200348" indent="0">
              <a:buNone/>
              <a:defRPr sz="1600" b="1"/>
            </a:lvl8pPr>
            <a:lvl9pPr marL="365754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2" indent="0">
              <a:buNone/>
              <a:defRPr sz="2000" b="1"/>
            </a:lvl2pPr>
            <a:lvl3pPr marL="914386" indent="0">
              <a:buNone/>
              <a:defRPr sz="1800" b="1"/>
            </a:lvl3pPr>
            <a:lvl4pPr marL="1371578" indent="0">
              <a:buNone/>
              <a:defRPr sz="1600" b="1"/>
            </a:lvl4pPr>
            <a:lvl5pPr marL="1828770" indent="0">
              <a:buNone/>
              <a:defRPr sz="1600" b="1"/>
            </a:lvl5pPr>
            <a:lvl6pPr marL="2285964" indent="0">
              <a:buNone/>
              <a:defRPr sz="1600" b="1"/>
            </a:lvl6pPr>
            <a:lvl7pPr marL="2743156" indent="0">
              <a:buNone/>
              <a:defRPr sz="1600" b="1"/>
            </a:lvl7pPr>
            <a:lvl8pPr marL="3200348" indent="0">
              <a:buNone/>
              <a:defRPr sz="1600" b="1"/>
            </a:lvl8pPr>
            <a:lvl9pPr marL="365754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92" indent="0">
              <a:buNone/>
              <a:defRPr sz="1200"/>
            </a:lvl2pPr>
            <a:lvl3pPr marL="914386" indent="0">
              <a:buNone/>
              <a:defRPr sz="1000"/>
            </a:lvl3pPr>
            <a:lvl4pPr marL="1371578" indent="0">
              <a:buNone/>
              <a:defRPr sz="900"/>
            </a:lvl4pPr>
            <a:lvl5pPr marL="1828770" indent="0">
              <a:buNone/>
              <a:defRPr sz="900"/>
            </a:lvl5pPr>
            <a:lvl6pPr marL="2285964" indent="0">
              <a:buNone/>
              <a:defRPr sz="900"/>
            </a:lvl6pPr>
            <a:lvl7pPr marL="2743156" indent="0">
              <a:buNone/>
              <a:defRPr sz="900"/>
            </a:lvl7pPr>
            <a:lvl8pPr marL="3200348" indent="0">
              <a:buNone/>
              <a:defRPr sz="900"/>
            </a:lvl8pPr>
            <a:lvl9pPr marL="365754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92" indent="0">
              <a:buNone/>
              <a:defRPr sz="2800"/>
            </a:lvl2pPr>
            <a:lvl3pPr marL="914386" indent="0">
              <a:buNone/>
              <a:defRPr sz="2400"/>
            </a:lvl3pPr>
            <a:lvl4pPr marL="1371578" indent="0">
              <a:buNone/>
              <a:defRPr sz="2000"/>
            </a:lvl4pPr>
            <a:lvl5pPr marL="1828770" indent="0">
              <a:buNone/>
              <a:defRPr sz="2000"/>
            </a:lvl5pPr>
            <a:lvl6pPr marL="2285964" indent="0">
              <a:buNone/>
              <a:defRPr sz="2000"/>
            </a:lvl6pPr>
            <a:lvl7pPr marL="2743156" indent="0">
              <a:buNone/>
              <a:defRPr sz="2000"/>
            </a:lvl7pPr>
            <a:lvl8pPr marL="3200348" indent="0">
              <a:buNone/>
              <a:defRPr sz="2000"/>
            </a:lvl8pPr>
            <a:lvl9pPr marL="365754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92" indent="0">
              <a:buNone/>
              <a:defRPr sz="1200"/>
            </a:lvl2pPr>
            <a:lvl3pPr marL="914386" indent="0">
              <a:buNone/>
              <a:defRPr sz="1000"/>
            </a:lvl3pPr>
            <a:lvl4pPr marL="1371578" indent="0">
              <a:buNone/>
              <a:defRPr sz="900"/>
            </a:lvl4pPr>
            <a:lvl5pPr marL="1828770" indent="0">
              <a:buNone/>
              <a:defRPr sz="900"/>
            </a:lvl5pPr>
            <a:lvl6pPr marL="2285964" indent="0">
              <a:buNone/>
              <a:defRPr sz="900"/>
            </a:lvl6pPr>
            <a:lvl7pPr marL="2743156" indent="0">
              <a:buNone/>
              <a:defRPr sz="900"/>
            </a:lvl7pPr>
            <a:lvl8pPr marL="3200348" indent="0">
              <a:buNone/>
              <a:defRPr sz="900"/>
            </a:lvl8pPr>
            <a:lvl9pPr marL="365754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8" tIns="45720" rIns="91438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38" tIns="45720" rIns="91438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38" tIns="45720" rIns="91438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2CB5-39F4-448C-87D4-0D2DFCD25FCC}" type="datetimeFigureOut">
              <a:rPr lang="en-US" smtClean="0"/>
              <a:pPr/>
              <a:t>06-Sep-25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38" tIns="45720" rIns="91438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38" tIns="45720" rIns="91438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d"/>
  </p:transition>
  <p:txStyles>
    <p:titleStyle>
      <a:lvl1pPr algn="ctr" defTabSz="91438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5" indent="-342895" algn="l" defTabSz="91438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8" indent="-285746" algn="l" defTabSz="91438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6" algn="l" defTabSz="91438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4" indent="-228596" algn="l" defTabSz="91438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67" indent="-228596" algn="l" defTabSz="91438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0" indent="-228596" algn="l" defTabSz="91438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2" indent="-228596" algn="l" defTabSz="91438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4" indent="-228596" algn="l" defTabSz="91438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38" indent="-228596" algn="l" defTabSz="91438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14348" y="4857761"/>
            <a:ext cx="4162452" cy="1792431"/>
          </a:xfrm>
          <a:prstGeom prst="rect">
            <a:avLst/>
          </a:prstGeom>
          <a:noFill/>
        </p:spPr>
        <p:txBody>
          <a:bodyPr wrap="square" lIns="91438" tIns="45720" rIns="91438" bIns="45720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Presented by:</a:t>
            </a:r>
          </a:p>
          <a:p>
            <a:pPr lvl="0"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1. Sana </a:t>
            </a:r>
            <a:r>
              <a:rPr lang="en-US" dirty="0" smtClean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Anjum (4GW23IS040)</a:t>
            </a:r>
            <a:endParaRPr lang="en-US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just"/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2. Saranya G </a:t>
            </a:r>
            <a:r>
              <a:rPr lang="en-US" dirty="0" smtClean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(4GW23IS044)</a:t>
            </a:r>
            <a:endParaRPr lang="en-US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just"/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3. Sneha Patel A </a:t>
            </a:r>
            <a:r>
              <a:rPr lang="en-US" dirty="0" smtClean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V (4GW23IS049)</a:t>
            </a:r>
            <a:endParaRPr lang="en-US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just"/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4. Swathi S </a:t>
            </a:r>
            <a:r>
              <a:rPr lang="en-US" dirty="0" smtClean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(4GW23IS056) </a:t>
            </a:r>
            <a:endParaRPr lang="en-US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05400" y="4800600"/>
            <a:ext cx="4038600" cy="1754326"/>
          </a:xfrm>
          <a:prstGeom prst="rect">
            <a:avLst/>
          </a:prstGeom>
          <a:noFill/>
        </p:spPr>
        <p:txBody>
          <a:bodyPr wrap="square" lIns="91438" tIns="45720" rIns="91438" bIns="45720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           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Chaya P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 GSSSIETW, Mysuru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21439" y="1905000"/>
            <a:ext cx="8501122" cy="2215991"/>
          </a:xfrm>
          <a:prstGeom prst="rect">
            <a:avLst/>
          </a:prstGeom>
        </p:spPr>
        <p:txBody>
          <a:bodyPr wrap="square" lIns="91438" tIns="45720" rIns="91438" bIns="45720">
            <a:sp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u="sng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DEPARTMENT OF INFORMATION SCIENCE </a:t>
            </a:r>
            <a:r>
              <a:rPr lang="en-US" b="1" u="sng" dirty="0" smtClean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AND </a:t>
            </a:r>
            <a:r>
              <a:rPr lang="en-US" b="1" u="sng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ENGINEERING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1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Mini_Project_Phase-1 Presentation</a:t>
            </a:r>
          </a:p>
          <a:p>
            <a:pPr lvl="0" algn="ctr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IN" sz="28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AI-Powered Gesture –</a:t>
            </a:r>
            <a:r>
              <a:rPr lang="en-IN" sz="2800" b="1" u="sng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Driven </a:t>
            </a:r>
            <a:r>
              <a:rPr lang="en-IN" sz="28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Smart Slide Navigation System</a:t>
            </a:r>
            <a:endParaRPr lang="en-US" sz="2800" b="1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C:\Users\GSSS\Downloads\GSSS IETW Letter Head JPEG (updated)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577"/>
            <a:ext cx="9144000" cy="167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214292"/>
            <a:ext cx="7772400" cy="512757"/>
          </a:xfrm>
        </p:spPr>
        <p:txBody>
          <a:bodyPr>
            <a:noAutofit/>
          </a:bodyPr>
          <a:lstStyle/>
          <a:p>
            <a:r>
              <a:rPr lang="en-US" sz="3600" dirty="0" smtClean="0"/>
              <a:t>📑 </a:t>
            </a: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214282" y="917914"/>
            <a:ext cx="8143932" cy="560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8" tIns="45720" rIns="9143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525" indent="-9525"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2971752" algn="ctr"/>
                <a:tab pos="5600610" algn="r"/>
                <a:tab pos="5943506" algn="r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Title of the Project</a:t>
            </a:r>
          </a:p>
          <a:p>
            <a:pPr marL="457192" indent="-457192" fontAlgn="base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Introduction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3. Aim &amp; Objectives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4. Justification of the project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5. Related Work (Literature Review)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6. System Requirements: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a. Hardware Requirements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b. Software Requirements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7. Proposed Methodology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8. Expected outcomes of the project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9. References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971752" algn="ctr"/>
                <a:tab pos="5600610" algn="r"/>
                <a:tab pos="5943506" algn="r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="" xmlns:a16="http://schemas.microsoft.com/office/drawing/2014/main" id="{9792BAAB-DBE1-CAC0-7114-AEF58EBD5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💡 </a:t>
            </a: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="" xmlns:a16="http://schemas.microsoft.com/office/drawing/2014/main" id="{48929813-41DC-74E8-2728-62E51459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3820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Presentations are a fundamental tool for communication in education, business, and professional settings. However, the way we control them has remained largely unchanged.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Traditional methods rely on physical devices like keyboards, mouse or remote clickers. These tools create a significant constraint: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They restrict the presenter's natural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movement.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They break the natural flow and rhythm of the delivery.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They hinder audience engagement by forcing the presenter to focus on a device rather than the audience.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This dependence on hardware highlights a critical need for a more intuitive, flexible, and engaging method of presentation control.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🎯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Aim and Objectives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To design and develop a real-time gesture-controlled presentation system that leverages computer vision and hand-tracking technologies to enable seamless slide navigation, customizable gesture-to-action mapping,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control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intuitive interface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real-time hand gestures through a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laptop webcam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process them using </a:t>
            </a:r>
            <a:r>
              <a:rPr lang="en-US" alt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recognition.</a:t>
            </a: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gestures into presentation controls such as slide navigation, pointer display, drawing, and erasing.</a:t>
            </a: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flexibility by allowing users to customize gesture-to-action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mappings effectively.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user-friendly interface with live webcam overlay and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metrics, and varied testing conditions.</a:t>
            </a:r>
          </a:p>
          <a:p>
            <a:pPr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📢 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Justification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Presenters often rely on traditional input devices like keyboards,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mouse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 clickers, which can limit mobility and interrupt the flow of presentations. 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introduces an AI-powered gesture-controlled system that enables intuitive, hands-free slide navigation and interaction. 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By leveraging computer vision and machine learning, it ensures accurate real-time gesture recognition. 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simple user interface and performance analytics enhance usability and effectiveness. 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solution improves accessibility, engagement, and flexibility in presentations across educational, professional, and public speaking contexts.</a:t>
            </a:r>
          </a:p>
          <a:p>
            <a:pPr>
              <a:lnSpc>
                <a:spcPct val="15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📚  </a:t>
            </a:r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Literature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Review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400347248"/>
              </p:ext>
            </p:extLst>
          </p:nvPr>
        </p:nvGraphicFramePr>
        <p:xfrm>
          <a:off x="304796" y="934156"/>
          <a:ext cx="8534407" cy="57714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4779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6200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75260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7573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Sl.No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Author(s)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References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Limitations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4729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Gesture Driven Presentation Control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D.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Sirisha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Real-time interactive control using Media pipe &amp; Open CV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Transactions on Human-Machine Systems.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gestures; restricted to specific commands can expand gesture set and improve accuracy.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Enhancing Presentation Dynamics with Real-time Hand Gesture Recognition.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Divya Upadhyay 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Review of methods for gesture-based presentation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Access 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only lacks experiments highlights research gap in practical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implementaion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Approach for Dynamic Hand Gesture Recognition in Human-Robot Interaction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Arpneek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Kaur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Sandhya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Bansal</a:t>
                      </a:r>
                      <a:endParaRPr 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ML-based dynamic gesture recognition for human-robot interaction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Robotics and Automation Letters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Requires large datasets; delay in real-time interaction.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4412087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A Continuous Real-time Hand Gesture Recognition Method based on Skeleton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Thi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-Lan Le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Skeleton-based recognition system using TD-Net for detection &amp; recognition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Sensors Journal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to skeleton-based input; performance may degrade in complex backgrounds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40409"/>
                  </a:ext>
                </a:extLst>
              </a:tr>
              <a:tr h="11712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AI-Based Computer Vision Techniques and Expert Systems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Yasunari Matsuzaka, Ryu Yashiro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of AI-based CV &amp; expert systems in medical and HCI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MDPI Sensors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Mostly review; lacks experimental validation; gap in presentation-specific application.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1531992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10407652"/>
              </p:ext>
            </p:extLst>
          </p:nvPr>
        </p:nvGraphicFramePr>
        <p:xfrm>
          <a:off x="228601" y="304800"/>
          <a:ext cx="8686798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244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95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295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2958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01137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44779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2613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Gesture Recognition Using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Convolutional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Neural Networks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Vijay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Madaan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Neha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Sharma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CNN-based gesture recognition; 99.97% accuracy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Chitkara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University Journal of Engineering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dataset accuracy; lacks real-time validation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772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Sign &amp; Gesture Recognition System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Priyal Raj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of signs &amp; gestures for communication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extension beyond sign language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613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Gesture based AI Controller for Presentation, Virtual Drawing and System Volume Management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Akshay Kumar.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 recognition for multiple controls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Amrita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Vishwa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Vidyapeetham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GEHU / Uttaranchal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Complex; error margin increases; GPU needed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9316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 Based Model using Deep Learning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Anuja Dixit 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DL model for gesture-based slide control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AJ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Garg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Engineering College Journal.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real-world testing; can extend with better datasets &amp; robustness.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82522825"/>
                  </a:ext>
                </a:extLst>
              </a:tr>
              <a:tr h="13790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Efficient Gesture-Based Presentation Controller Using Transfer Learning Algorithm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Shaik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Faiz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Ahamed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Transfer learning for gesture control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ICCCI Conference Proceedings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Limited to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pretrained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models; high compute required.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5484478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90923491"/>
              </p:ext>
            </p:extLst>
          </p:nvPr>
        </p:nvGraphicFramePr>
        <p:xfrm>
          <a:off x="228601" y="381000"/>
          <a:ext cx="8686797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675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579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2399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1724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Dynamic Hand Gesture Recognition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Subash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Chandra Bose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Jaganathan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ML-based dynamic gesture recognition in real-time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VIT Bhopal Journal of Engineering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Needs optimization for speed &amp; dataset; focused on gestures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Smart Presentation System Using Hand Gestures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Bhairavi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Pustode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Smart presentation system using CV for slide control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Research Square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Early-stage; limited hardware testing.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318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Controlling PowerPoint Presentation using Hand Gestures in Real-Time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Ch Sai Charan, K Meenakshi, V Bhavani Reddy, V Kashyap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Control PowerPoint using gestures + speech-to-text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Access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scope; accuracy drops in poor lighting.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 Digital Presentation Control using Hand Gesture Technique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Salonee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Powar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Gesture-based PowerPoint controller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ICACC Conference Proceedings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Limited gestures; lighting affects accuracy; can improve robustness &amp; gesture variety.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813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Hand Gesture Recognition Based on Computer Vision: A Review of Techniques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Munir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Oudah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of CV techniques for gesture recognition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MDPI Sensors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only; lacks practical system; identifies methods for use in project implementation.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60247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dirty="0" smtClean="0"/>
              <a:t>⚙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Hardware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Requirements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Intel i5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processor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RAM: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8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GB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 500 GB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SSD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Integrated Laptop Webcam 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GPU: NVIDIA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/>
              <a:t>💻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OS: Windows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10 or higher/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Linux / Mac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IDE: Visual Studio Code with Python Extension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Languages: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Python 3.8 or higher.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Libraries: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MediaPipe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PyAutoGUI</a:t>
            </a:r>
            <a:r>
              <a:rPr lang="en-US" sz="1600" b="1" dirty="0" smtClean="0"/>
              <a:t> 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🛠</a:t>
            </a:r>
            <a:r>
              <a:rPr lang="en-US" sz="3600" dirty="0" smtClean="0"/>
              <a:t> </a:t>
            </a:r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153400" cy="5638800"/>
          </a:xfrm>
        </p:spPr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dirty="0" smtClean="0"/>
              <a:t>🎥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real-time hand gestures (swipe,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palm,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fingers, three fingers) using a webcam.</a:t>
            </a: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samples under varied lighting conditions, backgrounds, and hand sizes to ensure robustness.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🖼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webcam frames for consistency.</a:t>
            </a:r>
          </a:p>
          <a:p>
            <a:pPr marL="685793" lvl="1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enhancements (e.g., brightness correction) to improve input quality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✋ </a:t>
            </a: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Gesture Recognition </a:t>
            </a:r>
          </a:p>
          <a:p>
            <a:pPr marL="742943" lvl="1" indent="-342900" algn="just">
              <a:buFont typeface="Arial" pitchFamily="34" charset="0"/>
              <a:buChar char="•"/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CNN+MediaPipe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to extract hand landmarks. </a:t>
            </a:r>
          </a:p>
          <a:p>
            <a:pPr marL="742943" lvl="1" indent="-342900" algn="just">
              <a:buFont typeface="Arial" pitchFamily="34" charset="0"/>
              <a:buChar char="•"/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Train/classify gestures into defined gesture classes using rule-based approach.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smtClean="0"/>
              <a:t>🖥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Presentation Control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recognized gestures to presentation actions such as next/previous slide, pointer, drawing, and erasing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response for smooth slide navigation.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smtClean="0"/>
              <a:t>🎨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&amp; Customization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live webcam feed with detected gesture overlay.</a:t>
            </a: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customization of gesture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mappings and support for adding new gestures.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smtClean="0"/>
              <a:t>🧪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Performance Evaluation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across different users and environments.</a:t>
            </a:r>
          </a:p>
          <a:p>
            <a:pPr marL="685793" lvl="1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metrics such as recognition accuracy, latency, and reliability.</a:t>
            </a:r>
          </a:p>
          <a:p>
            <a:pPr marL="914393" lvl="1" indent="-514350" algn="just">
              <a:buFont typeface="+mj-lt"/>
              <a:buAutoNum type="arabicPeriod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A89E98-989D-EA75-8414-403FB5C3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"/>
            <a:ext cx="7086600" cy="9906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🔄   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C:\Users\DEEPK\Desktop\WhatsApp Image 2025-09-05 at 14.29.39_6c651cd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7848600" cy="51877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05124560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4000" dirty="0" smtClean="0"/>
              <a:t> </a:t>
            </a:r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en-IN" sz="4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achieve reliable real-time recognition of default gestures while also supporting the addition of custom gestures for extended functionality.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enable seamless and low-latency control of presentations, including slide navigation, pointer movement, drawing, and erasing actions.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provide users with flexibility by allowing gesture-to-action remapping and customization through an intuitive interface.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ensure robust system performance under varied users, lighting conditions, and environments, with measurable metrics such as accuracy and latency.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📖  </a:t>
            </a:r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Autofit/>
          </a:bodyPr>
          <a:lstStyle/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[1] D.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Sirisha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G. S. Reddy, R. U. Sri, R.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Hemanth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and P. M.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Kalyan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“Gesture Driven Presentation Control,” Int. J. Eng. Sci. Adv. Technol. (IJESAT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vol. 24, no. 5, May 2024.</a:t>
            </a:r>
          </a:p>
          <a:p>
            <a:pPr marL="1800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[2] D. Upadhyay, P. Sati, and N. Jain, “Enhancing Presentation Dynamics with Real-Time Hand Gesture Recognition: A Review,” IEEE Access, 2024.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[3] A.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Kaur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S.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Bansal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“A Machine Learning Based Approach for Dynamic Hand Gesture Recognition in Human-Robot Interaction,” IEEE Robotics and Automation Letters, 2024.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[4] T. L. Le, “A Continuous Real-Time Hand Gesture Recognition Method Based on Skeleton,” IEEE Sensors Journal, 2024.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[5] Y.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Matsuzaka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R. Yashiro, “AI-Based Computer Vision Techniques and Expert Systems,” AI, vol. 4, no. 1, pp. 289–302, Feb. 2023.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[6] V. Madaan and N. Sharma, “Hand Gesture Recognition Using Convolutional Neural Networks,” Chitkara University Journal of Engineering, 2023.</a:t>
            </a:r>
          </a:p>
          <a:p>
            <a:pPr marL="342900" indent="-342900">
              <a:buFont typeface="+mj-lt"/>
              <a:buAutoNum type="arabicPeriod" startAt="6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[7] P. Raj, M. Singh, S. Pandey, and Y. Singh, “Hand Sign &amp; Gesture Recognition System,” IEEE Access, 2023.</a:t>
            </a:r>
          </a:p>
          <a:p>
            <a:pPr marL="342900" indent="-342900">
              <a:buFont typeface="+mj-lt"/>
              <a:buAutoNum type="arabicPeriod" startAt="6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[8] A. Kumar, 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Anandaram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R. Pandey, K. Joshi, K. Alam, and S. Chaudhary, “Hand Gesture Based AI Controller for Presentation, Virtual Drawing and System Volume Management,” Amrita Vishwa Vidyapeetham / GEHU / Uttaranchal Univ. Research Publication, 2023.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81534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[9] A. Dixit, S. Jain, A.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Kazmi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Aakanksha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and K.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Manorama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“Gesture Based Model Using Deep Learning,” Ajay Kumar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Garg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Engineering College Journal, 2023.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[10] S. F.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Ahamed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S.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Srithar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P.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Sandeep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and T.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Paraselli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“Efficient Gesture-Based Presentation Controller Using Transfer Learning Algorithm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,” IEEE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Conf. Computer Communication and Informatics (ICCCI), Jan. 2023.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[11] S. C. B.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Jaganathan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K.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Basak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K. R., S.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Verma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T.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Prakash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and A.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Mital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“Dynamic Hand Gesture Recognition,” VIT Bhopal University Technical Report, 2023.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[12] B.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Pustode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V.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Pawar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V.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Pawar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T.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Pawar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and S.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Pokale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“Smart Presentation System Using Hand Gestures,” Research Square Preprint, Feb. 2023.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[13] C. S. Charan, K. Meenakshi, V. B. Reddy, and V. Kashyap, “Controlling PowerPoint Presentation Using Hand Gestures in Real-Time,” IEEE Access, 2023.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[14] S. Powar, S. Kadam, S.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Malage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and P.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Shingane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“Automated Digital Presentation Control Using Hand Gesture Technique,”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IEEE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Conf. Advances in Computer Communication (ICACC), 2022.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[15] M.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Oudah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A. Al-Naji, and J.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Chahl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“Hand Gesture Recognition Based on Computer Vision: A Review of Techniques,” Journal of Imaging, vol. 6, no. 73, pp. 1–23, Jul. 2020.</a:t>
            </a:r>
          </a:p>
          <a:p>
            <a:pPr marL="342900" indent="-342900">
              <a:buFont typeface="+mj-lt"/>
              <a:buAutoNum type="arabicPeriod" startAt="9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1672</Words>
  <Application>Microsoft Office PowerPoint</Application>
  <PresentationFormat>On-screen Show (4:3)</PresentationFormat>
  <Paragraphs>234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📑 Contents</vt:lpstr>
      <vt:lpstr>💡 Introduction</vt:lpstr>
      <vt:lpstr>🎯  Aim and Objectives</vt:lpstr>
      <vt:lpstr>📢  Justification</vt:lpstr>
      <vt:lpstr>📚  Literature Review</vt:lpstr>
      <vt:lpstr>Slide 7</vt:lpstr>
      <vt:lpstr>Slide 8</vt:lpstr>
      <vt:lpstr>System Requirements</vt:lpstr>
      <vt:lpstr>🛠 Proposed Method</vt:lpstr>
      <vt:lpstr>🔄   Flowchart</vt:lpstr>
      <vt:lpstr> ✅ Expected Outcomes</vt:lpstr>
      <vt:lpstr>📖  References 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DEEPK</cp:lastModifiedBy>
  <cp:revision>84</cp:revision>
  <dcterms:created xsi:type="dcterms:W3CDTF">2024-09-24T05:18:26Z</dcterms:created>
  <dcterms:modified xsi:type="dcterms:W3CDTF">2025-09-06T07:45:08Z</dcterms:modified>
</cp:coreProperties>
</file>